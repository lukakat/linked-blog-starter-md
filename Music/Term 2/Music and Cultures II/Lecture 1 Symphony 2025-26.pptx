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handoutMasterIdLst>
    <p:handoutMasterId r:id="rId33"/>
  </p:handoutMasterIdLst>
  <p:sldIdLst>
    <p:sldId id="256" r:id="rId2"/>
    <p:sldId id="370" r:id="rId3"/>
    <p:sldId id="387" r:id="rId4"/>
    <p:sldId id="258" r:id="rId5"/>
    <p:sldId id="356" r:id="rId6"/>
    <p:sldId id="262" r:id="rId7"/>
    <p:sldId id="358" r:id="rId8"/>
    <p:sldId id="274" r:id="rId9"/>
    <p:sldId id="371" r:id="rId10"/>
    <p:sldId id="382" r:id="rId11"/>
    <p:sldId id="263" r:id="rId12"/>
    <p:sldId id="275" r:id="rId13"/>
    <p:sldId id="276" r:id="rId14"/>
    <p:sldId id="282" r:id="rId15"/>
    <p:sldId id="381" r:id="rId16"/>
    <p:sldId id="369" r:id="rId17"/>
    <p:sldId id="267" r:id="rId18"/>
    <p:sldId id="384" r:id="rId19"/>
    <p:sldId id="292" r:id="rId20"/>
    <p:sldId id="354" r:id="rId21"/>
    <p:sldId id="385" r:id="rId22"/>
    <p:sldId id="271" r:id="rId23"/>
    <p:sldId id="329" r:id="rId24"/>
    <p:sldId id="372" r:id="rId25"/>
    <p:sldId id="316" r:id="rId26"/>
    <p:sldId id="374" r:id="rId27"/>
    <p:sldId id="375" r:id="rId28"/>
    <p:sldId id="386" r:id="rId29"/>
    <p:sldId id="376" r:id="rId30"/>
    <p:sldId id="377" r:id="rId31"/>
  </p:sldIdLst>
  <p:sldSz cx="9144000" cy="6858000" type="screen4x3"/>
  <p:notesSz cx="9144000" cy="6858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26"/>
  </p:normalViewPr>
  <p:slideViewPr>
    <p:cSldViewPr snapToObjects="1">
      <p:cViewPr varScale="1">
        <p:scale>
          <a:sx n="121" d="100"/>
          <a:sy n="121" d="100"/>
        </p:scale>
        <p:origin x="696" y="1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111" d="100"/>
          <a:sy n="111" d="100"/>
        </p:scale>
        <p:origin x="-582" y="-84"/>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wrap="square" lIns="91440" tIns="45720" rIns="91440" bIns="45720" numCol="1" anchor="t" anchorCtr="0" compatLnSpc="1">
            <a:prstTxWarp prst="textNoShape">
              <a:avLst/>
            </a:prstTxWarp>
          </a:bodyPr>
          <a:lstStyle>
            <a:lvl1pPr>
              <a:defRPr sz="1400">
                <a:latin typeface="Gill Sans MT" charset="0"/>
              </a:defRPr>
            </a:lvl1pPr>
          </a:lstStyle>
          <a:p>
            <a:r>
              <a:rPr lang="en-GB" altLang="x-none"/>
              <a:t>118 Romantic and C20th Music History – Lecture 1</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128"/>
                <a:cs typeface="ＭＳ Ｐゴシック" charset="-128"/>
              </a:defRPr>
            </a:lvl1pPr>
          </a:lstStyle>
          <a:p>
            <a:pPr>
              <a:defRPr/>
            </a:pPr>
            <a:endParaRPr lang="en-US"/>
          </a:p>
        </p:txBody>
      </p:sp>
      <p:sp>
        <p:nvSpPr>
          <p:cNvPr id="3" name="Date Placeholder 2"/>
          <p:cNvSpPr>
            <a:spLocks noGrp="1"/>
          </p:cNvSpPr>
          <p:nvPr>
            <p:ph type="dt" idx="1"/>
          </p:nvPr>
        </p:nvSpPr>
        <p:spPr>
          <a:xfrm>
            <a:off x="5180013" y="0"/>
            <a:ext cx="3962400" cy="3429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F2353B7E-B4E5-3D44-845E-E4749C8110C8}" type="datetime1">
              <a:rPr lang="en-US" altLang="x-none"/>
              <a:pPr/>
              <a:t>1/17/25</a:t>
            </a:fld>
            <a:endParaRPr lang="en-US" altLang="x-none"/>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914400" y="3257550"/>
            <a:ext cx="7315200" cy="3086100"/>
          </a:xfrm>
          <a:prstGeom prst="rect">
            <a:avLst/>
          </a:prstGeom>
        </p:spPr>
        <p:txBody>
          <a:bodyPr vert="horz" wrap="square" lIns="91440" tIns="45720" rIns="91440" bIns="45720" numCol="1" anchor="t" anchorCtr="0" compatLnSpc="1">
            <a:prstTxWarp prst="textNoShape">
              <a:avLst/>
            </a:prstTxWarp>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6513513"/>
            <a:ext cx="3962400" cy="342900"/>
          </a:xfrm>
          <a:prstGeom prst="rect">
            <a:avLst/>
          </a:prstGeom>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128"/>
                <a:cs typeface="ＭＳ Ｐゴシック" charset="-128"/>
              </a:defRPr>
            </a:lvl1pPr>
          </a:lstStyle>
          <a:p>
            <a:pPr>
              <a:defRPr/>
            </a:pPr>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5E9C0EC8-7795-C844-A405-09292A983AA6}" type="slidenum">
              <a:rPr lang="en-US" altLang="x-none"/>
              <a:pPr/>
              <a:t>‹#›</a:t>
            </a:fld>
            <a:endParaRPr lang="en-US" altLang="x-none"/>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ＭＳ Ｐゴシック" pitchFamily="-108"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08"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36405B-3C91-C846-955E-41D0507E7E61}" type="slidenum">
              <a:rPr lang="en-US" smtClean="0"/>
              <a:t>20</a:t>
            </a:fld>
            <a:endParaRPr lang="en-US"/>
          </a:p>
        </p:txBody>
      </p:sp>
    </p:spTree>
    <p:extLst>
      <p:ext uri="{BB962C8B-B14F-4D97-AF65-F5344CB8AC3E}">
        <p14:creationId xmlns:p14="http://schemas.microsoft.com/office/powerpoint/2010/main" val="591328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7B890530-1D4E-9B48-B1D6-CE8B173E80AF}" type="datetime1">
              <a:rPr lang="en-US" altLang="x-none"/>
              <a:pPr/>
              <a:t>1/17/25</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8E84811-D1DC-134F-90F8-21B8AE692788}" type="slidenum">
              <a:rPr lang="en-US" altLang="x-none"/>
              <a:pPr/>
              <a:t>‹#›</a:t>
            </a:fld>
            <a:endParaRPr lang="en-US" altLang="x-none"/>
          </a:p>
        </p:txBody>
      </p:sp>
    </p:spTree>
    <p:extLst>
      <p:ext uri="{BB962C8B-B14F-4D97-AF65-F5344CB8AC3E}">
        <p14:creationId xmlns:p14="http://schemas.microsoft.com/office/powerpoint/2010/main" val="1378971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55FD5319-D78C-0341-A44C-2B3E18D4D81C}" type="datetime1">
              <a:rPr lang="en-US" altLang="x-none"/>
              <a:pPr/>
              <a:t>1/17/25</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A65756B8-D9E7-0743-8139-7CD309FD5972}" type="slidenum">
              <a:rPr lang="en-US" altLang="x-none"/>
              <a:pPr/>
              <a:t>‹#›</a:t>
            </a:fld>
            <a:endParaRPr lang="en-US" altLang="x-none"/>
          </a:p>
        </p:txBody>
      </p:sp>
    </p:spTree>
    <p:extLst>
      <p:ext uri="{BB962C8B-B14F-4D97-AF65-F5344CB8AC3E}">
        <p14:creationId xmlns:p14="http://schemas.microsoft.com/office/powerpoint/2010/main" val="736952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fld id="{93B86521-241A-5C4A-93C0-5E03D0180A53}" type="datetime1">
              <a:rPr lang="en-US" altLang="x-none"/>
              <a:pPr/>
              <a:t>1/17/25</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CB9A033-1853-1649-B40F-CEA84351D4DE}" type="slidenum">
              <a:rPr lang="en-US" altLang="x-none"/>
              <a:pPr/>
              <a:t>‹#›</a:t>
            </a:fld>
            <a:endParaRPr lang="en-US" altLang="x-none"/>
          </a:p>
        </p:txBody>
      </p:sp>
    </p:spTree>
    <p:extLst>
      <p:ext uri="{BB962C8B-B14F-4D97-AF65-F5344CB8AC3E}">
        <p14:creationId xmlns:p14="http://schemas.microsoft.com/office/powerpoint/2010/main" val="1427029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fld id="{C6B3960A-794E-FC4C-8931-D1C416638103}" type="datetime1">
              <a:rPr lang="en-US" altLang="x-none"/>
              <a:pPr/>
              <a:t>1/17/25</a:t>
            </a:fld>
            <a:endParaRPr lang="en-US" altLang="x-none"/>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B406FAF-90DF-2148-9C2F-99EA9F9FE99A}" type="slidenum">
              <a:rPr lang="en-US" altLang="x-none"/>
              <a:pPr/>
              <a:t>‹#›</a:t>
            </a:fld>
            <a:endParaRPr lang="en-US" altLang="x-none"/>
          </a:p>
        </p:txBody>
      </p:sp>
    </p:spTree>
    <p:extLst>
      <p:ext uri="{BB962C8B-B14F-4D97-AF65-F5344CB8AC3E}">
        <p14:creationId xmlns:p14="http://schemas.microsoft.com/office/powerpoint/2010/main" val="994966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fld id="{FDAE7DDF-8A5E-194A-8D1D-0EF8CBAFACBA}" type="datetime1">
              <a:rPr lang="en-US" altLang="x-none"/>
              <a:pPr/>
              <a:t>1/17/25</a:t>
            </a:fld>
            <a:endParaRPr lang="en-US" altLang="x-none"/>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E7157207-FB2D-674A-A6FF-D008D4B87719}" type="slidenum">
              <a:rPr lang="en-US" altLang="x-none"/>
              <a:pPr/>
              <a:t>‹#›</a:t>
            </a:fld>
            <a:endParaRPr lang="en-US" altLang="x-none"/>
          </a:p>
        </p:txBody>
      </p:sp>
    </p:spTree>
    <p:extLst>
      <p:ext uri="{BB962C8B-B14F-4D97-AF65-F5344CB8AC3E}">
        <p14:creationId xmlns:p14="http://schemas.microsoft.com/office/powerpoint/2010/main" val="20916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fld id="{55F65810-92F1-664A-B71D-34A2C059F83F}" type="datetime1">
              <a:rPr lang="en-US" altLang="x-none"/>
              <a:pPr/>
              <a:t>1/17/25</a:t>
            </a:fld>
            <a:endParaRPr lang="en-US" altLang="x-none"/>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E16420BB-493D-1447-AC66-6E771ACCCBD9}" type="slidenum">
              <a:rPr lang="en-US" altLang="x-none"/>
              <a:pPr/>
              <a:t>‹#›</a:t>
            </a:fld>
            <a:endParaRPr lang="en-US" altLang="x-none"/>
          </a:p>
        </p:txBody>
      </p:sp>
    </p:spTree>
    <p:extLst>
      <p:ext uri="{BB962C8B-B14F-4D97-AF65-F5344CB8AC3E}">
        <p14:creationId xmlns:p14="http://schemas.microsoft.com/office/powerpoint/2010/main" val="1375466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E2BD046E-209D-874E-B252-98FCA8414E67}" type="datetime1">
              <a:rPr lang="en-US" altLang="x-none"/>
              <a:pPr/>
              <a:t>1/17/25</a:t>
            </a:fld>
            <a:endParaRPr lang="en-US" altLang="x-none"/>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A6EC98C8-9469-1E41-9DA6-34F1400EB391}" type="slidenum">
              <a:rPr lang="en-US" altLang="x-none"/>
              <a:pPr/>
              <a:t>‹#›</a:t>
            </a:fld>
            <a:endParaRPr lang="en-US" altLang="x-none"/>
          </a:p>
        </p:txBody>
      </p:sp>
    </p:spTree>
    <p:extLst>
      <p:ext uri="{BB962C8B-B14F-4D97-AF65-F5344CB8AC3E}">
        <p14:creationId xmlns:p14="http://schemas.microsoft.com/office/powerpoint/2010/main" val="1951875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84C03F63-0450-8643-A4EA-6ACFDF99452A}" type="datetime1">
              <a:rPr lang="en-US" altLang="x-none"/>
              <a:pPr/>
              <a:t>1/17/25</a:t>
            </a:fld>
            <a:endParaRPr lang="en-US" altLang="x-none"/>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D9BCB50-4CC9-7141-8419-6A21FD5740ED}" type="slidenum">
              <a:rPr lang="en-US" altLang="x-none"/>
              <a:pPr/>
              <a:t>‹#›</a:t>
            </a:fld>
            <a:endParaRPr lang="en-US" altLang="x-none"/>
          </a:p>
        </p:txBody>
      </p:sp>
    </p:spTree>
    <p:extLst>
      <p:ext uri="{BB962C8B-B14F-4D97-AF65-F5344CB8AC3E}">
        <p14:creationId xmlns:p14="http://schemas.microsoft.com/office/powerpoint/2010/main" val="215589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fld id="{1D16A2CF-26F3-814D-B8B0-61BB13B897E1}" type="datetime1">
              <a:rPr lang="en-US" altLang="x-none"/>
              <a:pPr/>
              <a:t>1/17/25</a:t>
            </a:fld>
            <a:endParaRPr lang="en-US" altLang="x-none"/>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048C3C1-2BD8-0B40-8502-80F49BE4F77E}" type="slidenum">
              <a:rPr lang="en-US" altLang="x-none"/>
              <a:pPr/>
              <a:t>‹#›</a:t>
            </a:fld>
            <a:endParaRPr lang="en-US" altLang="x-none"/>
          </a:p>
        </p:txBody>
      </p:sp>
    </p:spTree>
    <p:extLst>
      <p:ext uri="{BB962C8B-B14F-4D97-AF65-F5344CB8AC3E}">
        <p14:creationId xmlns:p14="http://schemas.microsoft.com/office/powerpoint/2010/main" val="601074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460692E2-0098-164B-AB3F-D493FE9412EA}" type="datetime1">
              <a:rPr lang="en-US" altLang="x-none"/>
              <a:pPr/>
              <a:t>1/17/25</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1A35F50-CE56-A947-9996-7C0C31D045C4}" type="slidenum">
              <a:rPr lang="en-US" altLang="x-none"/>
              <a:pPr/>
              <a:t>‹#›</a:t>
            </a:fld>
            <a:endParaRPr lang="en-US" altLang="x-none"/>
          </a:p>
        </p:txBody>
      </p:sp>
    </p:spTree>
    <p:extLst>
      <p:ext uri="{BB962C8B-B14F-4D97-AF65-F5344CB8AC3E}">
        <p14:creationId xmlns:p14="http://schemas.microsoft.com/office/powerpoint/2010/main" val="494432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fld id="{C4FD5C2F-66BE-2548-B5D5-0F3C6F098410}" type="datetime1">
              <a:rPr lang="en-US" altLang="x-none"/>
              <a:pPr/>
              <a:t>1/17/25</a:t>
            </a:fld>
            <a:endParaRPr lang="en-US" altLang="x-none"/>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409EC32-5D29-CF46-BE4A-B98E207A87B8}" type="slidenum">
              <a:rPr lang="en-US" altLang="x-none"/>
              <a:pPr/>
              <a:t>‹#›</a:t>
            </a:fld>
            <a:endParaRPr lang="en-US" altLang="x-none"/>
          </a:p>
        </p:txBody>
      </p:sp>
    </p:spTree>
    <p:extLst>
      <p:ext uri="{BB962C8B-B14F-4D97-AF65-F5344CB8AC3E}">
        <p14:creationId xmlns:p14="http://schemas.microsoft.com/office/powerpoint/2010/main" val="1313469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GB" altLang="x-none"/>
              <a:t>Click to edit Master title style</a:t>
            </a:r>
            <a:endParaRPr lang="en-US" altLang="x-none"/>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GB" altLang="x-none"/>
              <a:t>Click to edit Master text styles</a:t>
            </a:r>
          </a:p>
          <a:p>
            <a:pPr lvl="1"/>
            <a:r>
              <a:rPr lang="en-GB" altLang="x-none"/>
              <a:t>Second level</a:t>
            </a:r>
          </a:p>
          <a:p>
            <a:pPr lvl="2"/>
            <a:r>
              <a:rPr lang="en-GB" altLang="x-none"/>
              <a:t>Third level</a:t>
            </a:r>
          </a:p>
          <a:p>
            <a:pPr lvl="3"/>
            <a:r>
              <a:rPr lang="en-GB" altLang="x-none"/>
              <a:t>Fourth level</a:t>
            </a:r>
          </a:p>
          <a:p>
            <a:pPr lvl="4"/>
            <a:r>
              <a:rPr lang="en-GB" altLang="x-none"/>
              <a:t>Fifth level</a:t>
            </a:r>
            <a:endParaRPr lang="en-US" altLang="x-none"/>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Gill Sans MT" charset="0"/>
              </a:defRPr>
            </a:lvl1pPr>
          </a:lstStyle>
          <a:p>
            <a:fld id="{01B45BCC-00D8-5B40-B000-E9DDDF8B25DE}" type="datetime1">
              <a:rPr lang="en-US" altLang="x-none"/>
              <a:pPr/>
              <a:t>1/17/25</a:t>
            </a:fld>
            <a:endParaRPr lang="en-US" altLang="x-none"/>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Gill Sans MT" charset="0"/>
                <a:ea typeface="ＭＳ Ｐゴシック" charset="-128"/>
                <a:cs typeface="ＭＳ Ｐゴシック" charset="-128"/>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Gill Sans MT" charset="0"/>
              </a:defRPr>
            </a:lvl1pPr>
          </a:lstStyle>
          <a:p>
            <a:fld id="{40C5EF77-C571-5E45-8D2D-E4F8B8F8A92E}" type="slidenum">
              <a:rPr lang="en-US" altLang="x-none"/>
              <a:pPr/>
              <a:t>‹#›</a:t>
            </a:fld>
            <a:endParaRPr lang="en-US" alt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0" fontAlgn="base" hangingPunct="0">
        <a:spcBef>
          <a:spcPct val="0"/>
        </a:spcBef>
        <a:spcAft>
          <a:spcPct val="0"/>
        </a:spcAft>
        <a:defRPr sz="4400" kern="1200">
          <a:solidFill>
            <a:schemeClr val="tx1"/>
          </a:solidFill>
          <a:latin typeface="Gill Sans MT"/>
          <a:ea typeface="ＭＳ Ｐゴシック" pitchFamily="-108" charset="-128"/>
          <a:cs typeface="ＭＳ Ｐゴシック" pitchFamily="-108" charset="-128"/>
        </a:defRPr>
      </a:lvl1pPr>
      <a:lvl2pPr algn="ctr" defTabSz="457200" rtl="0" eaLnBrk="0" fontAlgn="base" hangingPunct="0">
        <a:spcBef>
          <a:spcPct val="0"/>
        </a:spcBef>
        <a:spcAft>
          <a:spcPct val="0"/>
        </a:spcAft>
        <a:defRPr sz="4400">
          <a:solidFill>
            <a:schemeClr val="tx1"/>
          </a:solidFill>
          <a:latin typeface="Gill Sans MT" pitchFamily="-108" charset="-18"/>
          <a:ea typeface="ＭＳ Ｐゴシック" pitchFamily="-108" charset="-128"/>
          <a:cs typeface="ＭＳ Ｐゴシック" pitchFamily="-108" charset="-128"/>
        </a:defRPr>
      </a:lvl2pPr>
      <a:lvl3pPr algn="ctr" defTabSz="457200" rtl="0" eaLnBrk="0" fontAlgn="base" hangingPunct="0">
        <a:spcBef>
          <a:spcPct val="0"/>
        </a:spcBef>
        <a:spcAft>
          <a:spcPct val="0"/>
        </a:spcAft>
        <a:defRPr sz="4400">
          <a:solidFill>
            <a:schemeClr val="tx1"/>
          </a:solidFill>
          <a:latin typeface="Gill Sans MT" pitchFamily="-108" charset="-18"/>
          <a:ea typeface="ＭＳ Ｐゴシック" pitchFamily="-108" charset="-128"/>
          <a:cs typeface="ＭＳ Ｐゴシック" pitchFamily="-108" charset="-128"/>
        </a:defRPr>
      </a:lvl3pPr>
      <a:lvl4pPr algn="ctr" defTabSz="457200" rtl="0" eaLnBrk="0" fontAlgn="base" hangingPunct="0">
        <a:spcBef>
          <a:spcPct val="0"/>
        </a:spcBef>
        <a:spcAft>
          <a:spcPct val="0"/>
        </a:spcAft>
        <a:defRPr sz="4400">
          <a:solidFill>
            <a:schemeClr val="tx1"/>
          </a:solidFill>
          <a:latin typeface="Gill Sans MT" pitchFamily="-108" charset="-18"/>
          <a:ea typeface="ＭＳ Ｐゴシック" pitchFamily="-108" charset="-128"/>
          <a:cs typeface="ＭＳ Ｐゴシック" pitchFamily="-108" charset="-128"/>
        </a:defRPr>
      </a:lvl4pPr>
      <a:lvl5pPr algn="ctr" defTabSz="457200" rtl="0" eaLnBrk="0" fontAlgn="base" hangingPunct="0">
        <a:spcBef>
          <a:spcPct val="0"/>
        </a:spcBef>
        <a:spcAft>
          <a:spcPct val="0"/>
        </a:spcAft>
        <a:defRPr sz="4400">
          <a:solidFill>
            <a:schemeClr val="tx1"/>
          </a:solidFill>
          <a:latin typeface="Gill Sans MT" pitchFamily="-108" charset="-18"/>
          <a:ea typeface="ＭＳ Ｐゴシック" pitchFamily="-108" charset="-128"/>
          <a:cs typeface="ＭＳ Ｐゴシック" pitchFamily="-108" charset="-128"/>
        </a:defRPr>
      </a:lvl5pPr>
      <a:lvl6pPr marL="457200" algn="ctr" defTabSz="457200" rtl="0" fontAlgn="base">
        <a:spcBef>
          <a:spcPct val="0"/>
        </a:spcBef>
        <a:spcAft>
          <a:spcPct val="0"/>
        </a:spcAft>
        <a:defRPr sz="4400">
          <a:solidFill>
            <a:schemeClr val="tx1"/>
          </a:solidFill>
          <a:latin typeface="Gill Sans MT" pitchFamily="-108" charset="-18"/>
          <a:ea typeface="ＭＳ Ｐゴシック" pitchFamily="-108" charset="-128"/>
          <a:cs typeface="ＭＳ Ｐゴシック" pitchFamily="-108" charset="-128"/>
        </a:defRPr>
      </a:lvl6pPr>
      <a:lvl7pPr marL="914400" algn="ctr" defTabSz="457200" rtl="0" fontAlgn="base">
        <a:spcBef>
          <a:spcPct val="0"/>
        </a:spcBef>
        <a:spcAft>
          <a:spcPct val="0"/>
        </a:spcAft>
        <a:defRPr sz="4400">
          <a:solidFill>
            <a:schemeClr val="tx1"/>
          </a:solidFill>
          <a:latin typeface="Gill Sans MT" pitchFamily="-108" charset="-18"/>
          <a:ea typeface="ＭＳ Ｐゴシック" pitchFamily="-108" charset="-128"/>
          <a:cs typeface="ＭＳ Ｐゴシック" pitchFamily="-108" charset="-128"/>
        </a:defRPr>
      </a:lvl7pPr>
      <a:lvl8pPr marL="1371600" algn="ctr" defTabSz="457200" rtl="0" fontAlgn="base">
        <a:spcBef>
          <a:spcPct val="0"/>
        </a:spcBef>
        <a:spcAft>
          <a:spcPct val="0"/>
        </a:spcAft>
        <a:defRPr sz="4400">
          <a:solidFill>
            <a:schemeClr val="tx1"/>
          </a:solidFill>
          <a:latin typeface="Gill Sans MT" pitchFamily="-108" charset="-18"/>
          <a:ea typeface="ＭＳ Ｐゴシック" pitchFamily="-108" charset="-128"/>
          <a:cs typeface="ＭＳ Ｐゴシック" pitchFamily="-108" charset="-128"/>
        </a:defRPr>
      </a:lvl8pPr>
      <a:lvl9pPr marL="1828800" algn="ctr" defTabSz="457200" rtl="0" fontAlgn="base">
        <a:spcBef>
          <a:spcPct val="0"/>
        </a:spcBef>
        <a:spcAft>
          <a:spcPct val="0"/>
        </a:spcAft>
        <a:defRPr sz="4400">
          <a:solidFill>
            <a:schemeClr val="tx1"/>
          </a:solidFill>
          <a:latin typeface="Gill Sans MT" pitchFamily="-108" charset="-18"/>
          <a:ea typeface="ＭＳ Ｐゴシック" pitchFamily="-108" charset="-128"/>
          <a:cs typeface="ＭＳ Ｐゴシック" pitchFamily="-108" charset="-128"/>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a:xfrm>
            <a:off x="685800" y="1772816"/>
            <a:ext cx="7772400" cy="1470025"/>
          </a:xfrm>
        </p:spPr>
        <p:txBody>
          <a:bodyPr/>
          <a:lstStyle/>
          <a:p>
            <a:pPr eaLnBrk="1" hangingPunct="1"/>
            <a:r>
              <a:rPr lang="en-US" altLang="x-none" sz="4000" dirty="0">
                <a:latin typeface="Gill Sans MT" charset="0"/>
                <a:ea typeface="ＭＳ Ｐゴシック" charset="-128"/>
              </a:rPr>
              <a:t>Music and its Cultures II</a:t>
            </a:r>
          </a:p>
        </p:txBody>
      </p:sp>
      <p:sp>
        <p:nvSpPr>
          <p:cNvPr id="15362" name="Subtitle 2"/>
          <p:cNvSpPr>
            <a:spLocks noGrp="1"/>
          </p:cNvSpPr>
          <p:nvPr>
            <p:ph type="subTitle" idx="1"/>
          </p:nvPr>
        </p:nvSpPr>
        <p:spPr>
          <a:xfrm>
            <a:off x="1371600" y="3340497"/>
            <a:ext cx="6400800" cy="1752600"/>
          </a:xfrm>
        </p:spPr>
        <p:txBody>
          <a:bodyPr/>
          <a:lstStyle/>
          <a:p>
            <a:pPr eaLnBrk="1" hangingPunct="1"/>
            <a:r>
              <a:rPr lang="en-US" altLang="x-none" dirty="0">
                <a:solidFill>
                  <a:schemeClr val="tx1"/>
                </a:solidFill>
                <a:latin typeface="Gill Sans MT" charset="0"/>
                <a:ea typeface="ＭＳ Ｐゴシック" charset="-128"/>
              </a:rPr>
              <a:t>I. The Symphony and Symphony Concert, c.1800-1900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a:xfrm>
            <a:off x="685800" y="2389783"/>
            <a:ext cx="7772400" cy="1470025"/>
          </a:xfrm>
        </p:spPr>
        <p:txBody>
          <a:bodyPr/>
          <a:lstStyle/>
          <a:p>
            <a:pPr eaLnBrk="1" hangingPunct="1"/>
            <a:r>
              <a:rPr lang="en-US" altLang="x-none" sz="4000" b="1" dirty="0">
                <a:latin typeface="Gill Sans MT" charset="0"/>
                <a:ea typeface="ＭＳ Ｐゴシック" charset="-128"/>
              </a:rPr>
              <a:t>1. The Growing Prestige of the Symphony</a:t>
            </a:r>
            <a:br>
              <a:rPr lang="en-GB" altLang="x-none" sz="4000" dirty="0">
                <a:latin typeface="Gill Sans MT" charset="0"/>
                <a:ea typeface="ＭＳ Ｐゴシック" charset="-128"/>
              </a:rPr>
            </a:br>
            <a:br>
              <a:rPr lang="en-GB" altLang="x-none" sz="4000" dirty="0">
                <a:latin typeface="Gill Sans MT" charset="0"/>
                <a:ea typeface="ＭＳ Ｐゴシック" charset="-128"/>
              </a:rPr>
            </a:br>
            <a:r>
              <a:rPr lang="en-GB" altLang="x-none" sz="4000" dirty="0">
                <a:latin typeface="Gill Sans MT" charset="0"/>
                <a:ea typeface="ＭＳ Ｐゴシック" charset="-128"/>
              </a:rPr>
              <a:t>2. Beethoven’s ‘Heroic’…</a:t>
            </a:r>
            <a:br>
              <a:rPr lang="en-GB" altLang="x-none" sz="4000" dirty="0">
                <a:latin typeface="Gill Sans MT" charset="0"/>
                <a:ea typeface="ＭＳ Ｐゴシック" charset="-128"/>
              </a:rPr>
            </a:br>
            <a:br>
              <a:rPr lang="en-GB" altLang="x-none" sz="4000" dirty="0">
                <a:latin typeface="Gill Sans MT" charset="0"/>
                <a:ea typeface="ＭＳ Ｐゴシック" charset="-128"/>
              </a:rPr>
            </a:br>
            <a:r>
              <a:rPr lang="en-GB" altLang="x-none" sz="4000" dirty="0">
                <a:latin typeface="Gill Sans MT" charset="0"/>
                <a:ea typeface="ＭＳ Ｐゴシック" charset="-128"/>
              </a:rPr>
              <a:t>3. … and the ‘Symphony Concert’</a:t>
            </a:r>
            <a:br>
              <a:rPr lang="en-GB" altLang="x-none" sz="4000" dirty="0">
                <a:latin typeface="Gill Sans MT" charset="0"/>
                <a:ea typeface="ＭＳ Ｐゴシック" charset="-128"/>
              </a:rPr>
            </a:br>
            <a:br>
              <a:rPr lang="en-GB" altLang="x-none" sz="4000" dirty="0">
                <a:latin typeface="Gill Sans MT" charset="0"/>
                <a:ea typeface="ＭＳ Ｐゴシック" charset="-128"/>
              </a:rPr>
            </a:br>
            <a:r>
              <a:rPr lang="en-GB" altLang="x-none" sz="4000" dirty="0">
                <a:latin typeface="Gill Sans MT" charset="0"/>
                <a:ea typeface="ＭＳ Ｐゴシック" charset="-128"/>
              </a:rPr>
              <a:t>4. Mahler and the ‘Chain of Being’</a:t>
            </a:r>
            <a:endParaRPr lang="en-US" altLang="x-none" sz="4000" dirty="0">
              <a:latin typeface="Gill Sans MT" charset="0"/>
              <a:ea typeface="ＭＳ Ｐゴシック" charset="-128"/>
            </a:endParaRPr>
          </a:p>
        </p:txBody>
      </p:sp>
    </p:spTree>
    <p:extLst>
      <p:ext uri="{BB962C8B-B14F-4D97-AF65-F5344CB8AC3E}">
        <p14:creationId xmlns:p14="http://schemas.microsoft.com/office/powerpoint/2010/main" val="736180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A8A8A-DFB0-5754-465B-251542560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BD49B-2FA0-0921-B990-028C68B5254D}"/>
              </a:ext>
            </a:extLst>
          </p:cNvPr>
          <p:cNvSpPr>
            <a:spLocks noGrp="1"/>
          </p:cNvSpPr>
          <p:nvPr>
            <p:ph type="title"/>
          </p:nvPr>
        </p:nvSpPr>
        <p:spPr>
          <a:xfrm>
            <a:off x="467544" y="5382344"/>
            <a:ext cx="8496944" cy="1143000"/>
          </a:xfrm>
        </p:spPr>
        <p:txBody>
          <a:bodyPr/>
          <a:lstStyle/>
          <a:p>
            <a:pPr algn="l" eaLnBrk="1" hangingPunct="1">
              <a:spcBef>
                <a:spcPts val="0"/>
              </a:spcBef>
            </a:pPr>
            <a:r>
              <a:rPr lang="en-US" sz="1800" i="1" dirty="0">
                <a:effectLst/>
                <a:latin typeface="Gill Sans MT" panose="020B0502020104020203" pitchFamily="34" charset="77"/>
                <a:ea typeface="MS Mincho" panose="02020609040205080304" pitchFamily="49" charset="-128"/>
                <a:cs typeface="Times New Roman" panose="02020603050405020304" pitchFamily="18" charset="0"/>
              </a:rPr>
              <a:t>Le </a:t>
            </a:r>
            <a:r>
              <a:rPr lang="en-US" sz="1800" i="1" dirty="0" err="1">
                <a:effectLst/>
                <a:latin typeface="Gill Sans MT" panose="020B0502020104020203" pitchFamily="34" charset="77"/>
                <a:ea typeface="MS Mincho" panose="02020609040205080304" pitchFamily="49" charset="-128"/>
                <a:cs typeface="Times New Roman" panose="02020603050405020304" pitchFamily="18" charset="0"/>
              </a:rPr>
              <a:t>Thé</a:t>
            </a:r>
            <a:r>
              <a:rPr lang="en-US" sz="1800" i="1" dirty="0">
                <a:effectLst/>
                <a:latin typeface="Gill Sans MT" panose="020B0502020104020203" pitchFamily="34" charset="77"/>
                <a:ea typeface="MS Mincho" panose="02020609040205080304" pitchFamily="49" charset="-128"/>
                <a:cs typeface="Times New Roman" panose="02020603050405020304" pitchFamily="18" charset="0"/>
              </a:rPr>
              <a:t> à </a:t>
            </a:r>
            <a:r>
              <a:rPr lang="en-US" sz="1800" i="1" dirty="0" err="1">
                <a:effectLst/>
                <a:latin typeface="Gill Sans MT" panose="020B0502020104020203" pitchFamily="34" charset="77"/>
                <a:ea typeface="MS Mincho" panose="02020609040205080304" pitchFamily="49" charset="-128"/>
                <a:cs typeface="Times New Roman" panose="02020603050405020304" pitchFamily="18" charset="0"/>
              </a:rPr>
              <a:t>l'anglaise</a:t>
            </a:r>
            <a:r>
              <a:rPr lang="en-US" sz="1800" i="1" dirty="0">
                <a:effectLst/>
                <a:latin typeface="Gill Sans MT" panose="020B0502020104020203" pitchFamily="34" charset="77"/>
                <a:ea typeface="MS Mincho" panose="02020609040205080304" pitchFamily="49" charset="-128"/>
                <a:cs typeface="Times New Roman" panose="02020603050405020304" pitchFamily="18" charset="0"/>
              </a:rPr>
              <a:t> </a:t>
            </a:r>
            <a:r>
              <a:rPr lang="en-US" sz="1800" i="1" dirty="0" err="1">
                <a:effectLst/>
                <a:latin typeface="Gill Sans MT" panose="020B0502020104020203" pitchFamily="34" charset="77"/>
                <a:ea typeface="MS Mincho" panose="02020609040205080304" pitchFamily="49" charset="-128"/>
                <a:cs typeface="Times New Roman" panose="02020603050405020304" pitchFamily="18" charset="0"/>
              </a:rPr>
              <a:t>servi</a:t>
            </a:r>
            <a:r>
              <a:rPr lang="en-US" sz="1800" i="1" dirty="0">
                <a:effectLst/>
                <a:latin typeface="Gill Sans MT" panose="020B0502020104020203" pitchFamily="34" charset="77"/>
                <a:ea typeface="MS Mincho" panose="02020609040205080304" pitchFamily="49" charset="-128"/>
                <a:cs typeface="Times New Roman" panose="02020603050405020304" pitchFamily="18" charset="0"/>
              </a:rPr>
              <a:t> dans le salon des quatre-</a:t>
            </a:r>
            <a:r>
              <a:rPr lang="en-US" sz="1800" i="1" dirty="0" err="1">
                <a:effectLst/>
                <a:latin typeface="Gill Sans MT" panose="020B0502020104020203" pitchFamily="34" charset="77"/>
                <a:ea typeface="MS Mincho" panose="02020609040205080304" pitchFamily="49" charset="-128"/>
                <a:cs typeface="Times New Roman" panose="02020603050405020304" pitchFamily="18" charset="0"/>
              </a:rPr>
              <a:t>glaces</a:t>
            </a:r>
            <a:r>
              <a:rPr lang="en-US" sz="1800" i="1" dirty="0">
                <a:effectLst/>
                <a:latin typeface="Gill Sans MT" panose="020B0502020104020203" pitchFamily="34" charset="77"/>
                <a:ea typeface="MS Mincho" panose="02020609040205080304" pitchFamily="49" charset="-128"/>
                <a:cs typeface="Times New Roman" panose="02020603050405020304" pitchFamily="18" charset="0"/>
              </a:rPr>
              <a:t> au Palais du Temple à Paris</a:t>
            </a:r>
            <a:r>
              <a:rPr lang="en-US" sz="1800" dirty="0">
                <a:effectLst/>
                <a:latin typeface="Gill Sans MT" panose="020B0502020104020203" pitchFamily="34" charset="77"/>
                <a:ea typeface="MS Mincho" panose="02020609040205080304" pitchFamily="49" charset="-128"/>
                <a:cs typeface="Times New Roman" panose="02020603050405020304" pitchFamily="18" charset="0"/>
              </a:rPr>
              <a:t>,</a:t>
            </a:r>
            <a:br>
              <a:rPr lang="en-US" sz="1800" dirty="0">
                <a:effectLst/>
                <a:latin typeface="Gill Sans MT" panose="020B0502020104020203" pitchFamily="34" charset="77"/>
                <a:ea typeface="MS Mincho" panose="02020609040205080304" pitchFamily="49" charset="-128"/>
                <a:cs typeface="Times New Roman" panose="02020603050405020304" pitchFamily="18" charset="0"/>
              </a:rPr>
            </a:br>
            <a:r>
              <a:rPr lang="en-US" sz="1800" dirty="0">
                <a:effectLst/>
                <a:latin typeface="Gill Sans MT" panose="020B0502020104020203" pitchFamily="34" charset="77"/>
                <a:ea typeface="MS Mincho" panose="02020609040205080304" pitchFamily="49" charset="-128"/>
                <a:cs typeface="Times New Roman" panose="02020603050405020304" pitchFamily="18" charset="0"/>
              </a:rPr>
              <a:t>Michel</a:t>
            </a:r>
            <a:r>
              <a:rPr lang="en-US" sz="1800" dirty="0">
                <a:latin typeface="Gill Sans MT" panose="020B0502020104020203" pitchFamily="34" charset="77"/>
                <a:ea typeface="MS Mincho" panose="02020609040205080304" pitchFamily="49" charset="-128"/>
                <a:cs typeface="Times New Roman" panose="02020603050405020304" pitchFamily="18" charset="0"/>
              </a:rPr>
              <a:t>-</a:t>
            </a:r>
            <a:r>
              <a:rPr lang="en-US" sz="1800" dirty="0">
                <a:effectLst/>
                <a:latin typeface="Gill Sans MT" panose="020B0502020104020203" pitchFamily="34" charset="77"/>
                <a:ea typeface="MS Mincho" panose="02020609040205080304" pitchFamily="49" charset="-128"/>
                <a:cs typeface="Times New Roman" panose="02020603050405020304" pitchFamily="18" charset="0"/>
              </a:rPr>
              <a:t>Barthélémy </a:t>
            </a:r>
            <a:r>
              <a:rPr lang="en-US" sz="1800" dirty="0" err="1">
                <a:effectLst/>
                <a:latin typeface="Gill Sans MT" panose="020B0502020104020203" pitchFamily="34" charset="77"/>
                <a:ea typeface="MS Mincho" panose="02020609040205080304" pitchFamily="49" charset="-128"/>
                <a:cs typeface="Times New Roman" panose="02020603050405020304" pitchFamily="18" charset="0"/>
              </a:rPr>
              <a:t>Ollivier</a:t>
            </a:r>
            <a:r>
              <a:rPr lang="en-GB" sz="1800" dirty="0">
                <a:effectLst/>
                <a:latin typeface="Gill Sans MT" panose="020B0502020104020203" pitchFamily="34" charset="77"/>
              </a:rPr>
              <a:t> (1766)</a:t>
            </a:r>
            <a:endParaRPr lang="en-US" altLang="x-none" sz="1800" dirty="0">
              <a:latin typeface="Gill Sans MT" panose="020B0502020104020203" pitchFamily="34" charset="77"/>
              <a:ea typeface="ＭＳ Ｐゴシック" charset="-128"/>
            </a:endParaRPr>
          </a:p>
        </p:txBody>
      </p:sp>
      <p:pic>
        <p:nvPicPr>
          <p:cNvPr id="6" name="Picture 5" descr="A painting of a group of people in a room&#10;&#10;Description automatically generated">
            <a:extLst>
              <a:ext uri="{FF2B5EF4-FFF2-40B4-BE49-F238E27FC236}">
                <a16:creationId xmlns:a16="http://schemas.microsoft.com/office/drawing/2014/main" id="{67D59EAC-B2A0-DC75-4F97-6F3D19B3DEB5}"/>
              </a:ext>
            </a:extLst>
          </p:cNvPr>
          <p:cNvPicPr>
            <a:picLocks noChangeAspect="1"/>
          </p:cNvPicPr>
          <p:nvPr/>
        </p:nvPicPr>
        <p:blipFill>
          <a:blip r:embed="rId2"/>
          <a:stretch>
            <a:fillRect/>
          </a:stretch>
        </p:blipFill>
        <p:spPr>
          <a:xfrm>
            <a:off x="467544" y="332656"/>
            <a:ext cx="6308152" cy="4876301"/>
          </a:xfrm>
          <a:prstGeom prst="rect">
            <a:avLst/>
          </a:prstGeom>
          <a:effectLst>
            <a:outerShdw blurRad="101600" dist="101600" dir="7800000" algn="ctr" rotWithShape="0">
              <a:srgbClr val="000000">
                <a:alpha val="47000"/>
              </a:srgbClr>
            </a:outerShdw>
          </a:effectLst>
        </p:spPr>
      </p:pic>
    </p:spTree>
    <p:extLst>
      <p:ext uri="{BB962C8B-B14F-4D97-AF65-F5344CB8AC3E}">
        <p14:creationId xmlns:p14="http://schemas.microsoft.com/office/powerpoint/2010/main" val="3702628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altLang="x-none" dirty="0">
                <a:latin typeface="Gill Sans MT" charset="0"/>
                <a:ea typeface="ＭＳ Ｐゴシック" charset="-128"/>
              </a:rPr>
              <a:t>Johann Abraham Schulz on the Symphony</a:t>
            </a:r>
          </a:p>
        </p:txBody>
      </p:sp>
      <p:sp>
        <p:nvSpPr>
          <p:cNvPr id="17410" name="Vertical Text Placeholder 2"/>
          <p:cNvSpPr>
            <a:spLocks noGrp="1"/>
          </p:cNvSpPr>
          <p:nvPr>
            <p:ph type="body" orient="vert" idx="1"/>
          </p:nvPr>
        </p:nvSpPr>
        <p:spPr/>
        <p:txBody>
          <a:bodyPr vert="horz"/>
          <a:lstStyle/>
          <a:p>
            <a:pPr marL="0" eaLnBrk="1" hangingPunct="1">
              <a:lnSpc>
                <a:spcPct val="80000"/>
              </a:lnSpc>
              <a:buFont typeface="Arial" charset="0"/>
              <a:buNone/>
            </a:pPr>
            <a:r>
              <a:rPr lang="en-US" altLang="x-none" sz="2200" dirty="0">
                <a:latin typeface="Gill Sans MT" charset="0"/>
                <a:ea typeface="ＭＳ Ｐゴシック" charset="-128"/>
              </a:rPr>
              <a:t>In Johann Sulzer, </a:t>
            </a:r>
            <a:r>
              <a:rPr lang="en-US" altLang="x-none" sz="2200" i="1" dirty="0">
                <a:latin typeface="Gill Sans MT" charset="0"/>
                <a:ea typeface="ＭＳ Ｐゴシック" charset="-128"/>
              </a:rPr>
              <a:t>Allgemeine </a:t>
            </a:r>
            <a:r>
              <a:rPr lang="en-US" altLang="x-none" sz="2200" i="1" dirty="0" err="1">
                <a:latin typeface="Gill Sans MT" charset="0"/>
                <a:ea typeface="ＭＳ Ｐゴシック" charset="-128"/>
              </a:rPr>
              <a:t>Theorie</a:t>
            </a:r>
            <a:r>
              <a:rPr lang="en-US" altLang="x-none" sz="2200" i="1" dirty="0">
                <a:latin typeface="Gill Sans MT" charset="0"/>
                <a:ea typeface="ＭＳ Ｐゴシック" charset="-128"/>
              </a:rPr>
              <a:t> der </a:t>
            </a:r>
            <a:r>
              <a:rPr lang="en-US" altLang="x-none" sz="2200" i="1" dirty="0" err="1">
                <a:latin typeface="Gill Sans MT" charset="0"/>
                <a:ea typeface="ＭＳ Ｐゴシック" charset="-128"/>
              </a:rPr>
              <a:t>schönen</a:t>
            </a:r>
            <a:r>
              <a:rPr lang="en-US" altLang="x-none" sz="2200" i="1" dirty="0">
                <a:latin typeface="Gill Sans MT" charset="0"/>
                <a:ea typeface="ＭＳ Ｐゴシック" charset="-128"/>
              </a:rPr>
              <a:t> Künste </a:t>
            </a:r>
            <a:r>
              <a:rPr lang="en-US" altLang="x-none" sz="2200" dirty="0">
                <a:latin typeface="Gill Sans MT" charset="0"/>
                <a:ea typeface="ＭＳ Ｐゴシック" charset="-128"/>
              </a:rPr>
              <a:t>(‘A General Theory of the Fine Arts’) (1771–74), vol. 2, p. 1121</a:t>
            </a:r>
          </a:p>
          <a:p>
            <a:pPr marL="0" algn="just" eaLnBrk="1" hangingPunct="1">
              <a:lnSpc>
                <a:spcPct val="80000"/>
              </a:lnSpc>
              <a:buFont typeface="Arial" charset="0"/>
              <a:buNone/>
            </a:pPr>
            <a:endParaRPr lang="en-US" altLang="x-none" sz="2200" dirty="0">
              <a:latin typeface="Gill Sans MT" charset="0"/>
              <a:ea typeface="ＭＳ Ｐゴシック" charset="-128"/>
            </a:endParaRPr>
          </a:p>
          <a:p>
            <a:pPr marL="0" algn="just" eaLnBrk="1" hangingPunct="1">
              <a:lnSpc>
                <a:spcPct val="80000"/>
              </a:lnSpc>
              <a:buFont typeface="Arial" charset="0"/>
              <a:buNone/>
            </a:pPr>
            <a:r>
              <a:rPr lang="ja-JP" altLang="en-US" sz="2200" dirty="0">
                <a:latin typeface="Gill Sans MT" charset="0"/>
                <a:ea typeface="ＭＳ Ｐゴシック" charset="-128"/>
              </a:rPr>
              <a:t>‘</a:t>
            </a:r>
            <a:r>
              <a:rPr lang="en-US" altLang="ja-JP" sz="2200" dirty="0">
                <a:latin typeface="Gill Sans MT" charset="0"/>
                <a:ea typeface="ＭＳ Ｐゴシック" charset="-128"/>
              </a:rPr>
              <a:t>The symphony is particularly suited for the expression of greatness, solemnity, and grandeur.  Its goal is to prepare the listener for important music or, in a chamber concert [</a:t>
            </a:r>
            <a:r>
              <a:rPr lang="en-US" altLang="ja-JP" sz="2200" i="1" dirty="0" err="1">
                <a:latin typeface="Gill Sans MT" charset="0"/>
                <a:ea typeface="ＭＳ Ｐゴシック" charset="-128"/>
              </a:rPr>
              <a:t>Cammerconcert</a:t>
            </a:r>
            <a:r>
              <a:rPr lang="en-US" altLang="ja-JP" sz="2200" dirty="0">
                <a:latin typeface="Gill Sans MT" charset="0"/>
                <a:ea typeface="ＭＳ Ｐゴシック" charset="-128"/>
              </a:rPr>
              <a:t>], to summon all the magnificence of instrumental music … The chamber symphony [</a:t>
            </a:r>
            <a:r>
              <a:rPr lang="en-US" altLang="ja-JP" sz="2200" i="1" dirty="0" err="1">
                <a:latin typeface="Gill Sans MT" charset="0"/>
                <a:ea typeface="ＭＳ Ｐゴシック" charset="-128"/>
              </a:rPr>
              <a:t>Kammersymphonie</a:t>
            </a:r>
            <a:r>
              <a:rPr lang="en-US" altLang="ja-JP" sz="2200" dirty="0">
                <a:latin typeface="Gill Sans MT" charset="0"/>
                <a:ea typeface="ＭＳ Ｐゴシック" charset="-128"/>
              </a:rPr>
              <a:t>], which is an independent whole, aiming at no following music, attains its purpose only through a sonorous, brilliant, and fiery style.  The [opening] Allegros of the best chamber symphonies contain great and bold ideas – powerful bass melodies and unisons; concerting middle parts; free imitations; often a fugally treated theme; sudden transitions and digressions from one theme to another, which are more striking the weaker the connection is; and considerable gradations of loud and soft, especially the crescendo, which is of the greatest effect when it is used together with an ascending melody which increases in expression.’</a:t>
            </a:r>
            <a:endParaRPr lang="en-US" altLang="x-none" sz="2200" dirty="0">
              <a:latin typeface="Gill Sans MT" charset="0"/>
              <a:ea typeface="ＭＳ Ｐゴシック"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89718"/>
            <a:ext cx="5032375" cy="6278563"/>
          </a:xfrm>
          <a:prstGeom prst="rect">
            <a:avLst/>
          </a:prstGeom>
          <a:noFill/>
          <a:ln>
            <a:noFill/>
          </a:ln>
          <a:effectLst>
            <a:outerShdw blurRad="63500" dist="177800" dir="8280000" sx="101000" sy="101000" algn="ctr" rotWithShape="0">
              <a:srgbClr val="000000">
                <a:alpha val="38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59A77EC8-E2C2-69B8-FA32-93D3FE829DBF}"/>
              </a:ext>
            </a:extLst>
          </p:cNvPr>
          <p:cNvSpPr>
            <a:spLocks noGrp="1"/>
          </p:cNvSpPr>
          <p:nvPr>
            <p:ph type="title"/>
          </p:nvPr>
        </p:nvSpPr>
        <p:spPr>
          <a:xfrm>
            <a:off x="5687616" y="2857499"/>
            <a:ext cx="3456384" cy="1143000"/>
          </a:xfrm>
        </p:spPr>
        <p:txBody>
          <a:bodyPr/>
          <a:lstStyle/>
          <a:p>
            <a:pPr eaLnBrk="1" hangingPunct="1"/>
            <a:r>
              <a:rPr lang="en-US" altLang="x-none" dirty="0">
                <a:latin typeface="Gill Sans MT" charset="0"/>
                <a:ea typeface="ＭＳ Ｐゴシック" charset="-128"/>
              </a:rPr>
              <a:t>Ludwig van Beethoven</a:t>
            </a:r>
            <a:br>
              <a:rPr lang="en-US" altLang="x-none" dirty="0">
                <a:latin typeface="Gill Sans MT" charset="0"/>
                <a:ea typeface="ＭＳ Ｐゴシック" charset="-128"/>
              </a:rPr>
            </a:br>
            <a:r>
              <a:rPr lang="en-US" altLang="x-none" dirty="0">
                <a:latin typeface="Gill Sans MT" charset="0"/>
                <a:ea typeface="ＭＳ Ｐゴシック" charset="-128"/>
              </a:rPr>
              <a:t>(1770-1827)</a:t>
            </a:r>
          </a:p>
        </p:txBody>
      </p:sp>
    </p:spTree>
    <p:extLst>
      <p:ext uri="{BB962C8B-B14F-4D97-AF65-F5344CB8AC3E}">
        <p14:creationId xmlns:p14="http://schemas.microsoft.com/office/powerpoint/2010/main" val="829050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0"/>
            <a:ext cx="8229600" cy="1143000"/>
          </a:xfrm>
        </p:spPr>
        <p:txBody>
          <a:bodyPr/>
          <a:lstStyle/>
          <a:p>
            <a:pPr eaLnBrk="1" hangingPunct="1"/>
            <a:r>
              <a:rPr lang="en-US" altLang="x-none" b="1" dirty="0">
                <a:latin typeface="Gill Sans MT" charset="0"/>
                <a:ea typeface="ＭＳ Ｐゴシック" charset="-128"/>
              </a:rPr>
              <a:t>Beethoven in context</a:t>
            </a:r>
          </a:p>
        </p:txBody>
      </p:sp>
      <p:sp>
        <p:nvSpPr>
          <p:cNvPr id="3" name="Vertical Text Placeholder 2"/>
          <p:cNvSpPr>
            <a:spLocks noGrp="1"/>
          </p:cNvSpPr>
          <p:nvPr>
            <p:ph type="body" orient="vert" idx="1"/>
          </p:nvPr>
        </p:nvSpPr>
        <p:spPr>
          <a:xfrm>
            <a:off x="457200" y="980729"/>
            <a:ext cx="8229600" cy="923192"/>
          </a:xfrm>
        </p:spPr>
        <p:txBody>
          <a:bodyPr vert="horz"/>
          <a:lstStyle/>
          <a:p>
            <a:pPr eaLnBrk="1" hangingPunct="1"/>
            <a:r>
              <a:rPr lang="en-US" altLang="x-none" sz="2500" dirty="0">
                <a:latin typeface="Gill Sans MT" charset="0"/>
                <a:ea typeface="ＭＳ Ｐゴシック" charset="-128"/>
              </a:rPr>
              <a:t>Composing at a time of </a:t>
            </a:r>
            <a:r>
              <a:rPr lang="en-US" altLang="x-none" sz="2500" b="1" dirty="0">
                <a:latin typeface="Gill Sans MT" charset="0"/>
                <a:ea typeface="ＭＳ Ｐゴシック" charset="-128"/>
              </a:rPr>
              <a:t>social</a:t>
            </a:r>
            <a:r>
              <a:rPr lang="en-US" altLang="x-none" sz="2500" dirty="0">
                <a:latin typeface="Gill Sans MT" charset="0"/>
                <a:ea typeface="ＭＳ Ｐゴシック" charset="-128"/>
              </a:rPr>
              <a:t> change: public concerts in larger spaces demanding bigger works</a:t>
            </a:r>
            <a:r>
              <a:rPr lang="mr-IN" altLang="x-none" sz="2500" dirty="0">
                <a:latin typeface="Gill Sans MT" charset="0"/>
                <a:ea typeface="ＭＳ Ｐゴシック" charset="-128"/>
              </a:rPr>
              <a:t>…</a:t>
            </a:r>
            <a:endParaRPr lang="en-GB" altLang="x-none" sz="2500" dirty="0">
              <a:latin typeface="Gill Sans MT" charset="0"/>
              <a:ea typeface="ＭＳ Ｐゴシック" charset="-128"/>
            </a:endParaRPr>
          </a:p>
        </p:txBody>
      </p:sp>
      <p:sp>
        <p:nvSpPr>
          <p:cNvPr id="2" name="Vertical Text Placeholder 2">
            <a:extLst>
              <a:ext uri="{FF2B5EF4-FFF2-40B4-BE49-F238E27FC236}">
                <a16:creationId xmlns:a16="http://schemas.microsoft.com/office/drawing/2014/main" id="{A5607CB5-52EE-D9B0-AD22-939A094914DC}"/>
              </a:ext>
            </a:extLst>
          </p:cNvPr>
          <p:cNvSpPr txBox="1">
            <a:spLocks/>
          </p:cNvSpPr>
          <p:nvPr/>
        </p:nvSpPr>
        <p:spPr bwMode="auto">
          <a:xfrm>
            <a:off x="457200" y="1988840"/>
            <a:ext cx="7920880" cy="923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GB" altLang="x-none" sz="2500" b="1" dirty="0">
                <a:latin typeface="Gill Sans MT" charset="0"/>
                <a:ea typeface="ＭＳ Ｐゴシック" charset="-128"/>
              </a:rPr>
              <a:t>Technical</a:t>
            </a:r>
            <a:r>
              <a:rPr lang="en-GB" altLang="x-none" sz="2500" dirty="0">
                <a:latin typeface="Gill Sans MT" charset="0"/>
                <a:ea typeface="ＭＳ Ｐゴシック" charset="-128"/>
              </a:rPr>
              <a:t> and </a:t>
            </a:r>
            <a:r>
              <a:rPr lang="en-GB" altLang="x-none" sz="2500" b="1" dirty="0">
                <a:latin typeface="Gill Sans MT" charset="0"/>
                <a:ea typeface="ＭＳ Ｐゴシック" charset="-128"/>
              </a:rPr>
              <a:t>expressive</a:t>
            </a:r>
            <a:r>
              <a:rPr lang="en-GB" altLang="x-none" sz="2500" dirty="0">
                <a:latin typeface="Gill Sans MT" charset="0"/>
                <a:ea typeface="ＭＳ Ｐゴシック" charset="-128"/>
              </a:rPr>
              <a:t> change: growth of support networks for bourgeois music</a:t>
            </a:r>
            <a:endParaRPr lang="en-US" altLang="x-none" sz="2500" dirty="0">
              <a:latin typeface="Gill Sans MT" charset="0"/>
              <a:ea typeface="ＭＳ Ｐゴシック" charset="-128"/>
            </a:endParaRPr>
          </a:p>
        </p:txBody>
      </p:sp>
      <p:sp>
        <p:nvSpPr>
          <p:cNvPr id="4" name="Vertical Text Placeholder 2">
            <a:extLst>
              <a:ext uri="{FF2B5EF4-FFF2-40B4-BE49-F238E27FC236}">
                <a16:creationId xmlns:a16="http://schemas.microsoft.com/office/drawing/2014/main" id="{AECFFE5E-D50D-03DD-05D4-27B71CC6DD1F}"/>
              </a:ext>
            </a:extLst>
          </p:cNvPr>
          <p:cNvSpPr txBox="1">
            <a:spLocks/>
          </p:cNvSpPr>
          <p:nvPr/>
        </p:nvSpPr>
        <p:spPr bwMode="auto">
          <a:xfrm>
            <a:off x="457200" y="2912031"/>
            <a:ext cx="7488832" cy="923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x-none" sz="2500" b="1" dirty="0">
                <a:latin typeface="Gill Sans MT" charset="0"/>
                <a:ea typeface="ＭＳ Ｐゴシック" charset="-128"/>
              </a:rPr>
              <a:t>Aesthetic</a:t>
            </a:r>
            <a:r>
              <a:rPr lang="en-US" altLang="x-none" sz="2500" dirty="0">
                <a:latin typeface="Gill Sans MT" charset="0"/>
                <a:ea typeface="ＭＳ Ｐゴシック" charset="-128"/>
              </a:rPr>
              <a:t> change: supremacy of vocal music questioned and replaced by supremacy of instrumental music</a:t>
            </a:r>
          </a:p>
        </p:txBody>
      </p:sp>
      <p:sp>
        <p:nvSpPr>
          <p:cNvPr id="5" name="Vertical Text Placeholder 2">
            <a:extLst>
              <a:ext uri="{FF2B5EF4-FFF2-40B4-BE49-F238E27FC236}">
                <a16:creationId xmlns:a16="http://schemas.microsoft.com/office/drawing/2014/main" id="{A3430E8A-3ACB-BFFD-78ED-57229E24CE07}"/>
              </a:ext>
            </a:extLst>
          </p:cNvPr>
          <p:cNvSpPr txBox="1">
            <a:spLocks/>
          </p:cNvSpPr>
          <p:nvPr/>
        </p:nvSpPr>
        <p:spPr bwMode="auto">
          <a:xfrm>
            <a:off x="457200" y="4156831"/>
            <a:ext cx="8363272" cy="220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x-none" sz="2500" dirty="0">
                <a:latin typeface="Gill Sans MT" charset="0"/>
                <a:ea typeface="ＭＳ Ｐゴシック" charset="-128"/>
              </a:rPr>
              <a:t>Immanuel Kant (</a:t>
            </a:r>
            <a:r>
              <a:rPr lang="en-US" altLang="x-none" sz="2500" i="1" dirty="0">
                <a:latin typeface="Gill Sans MT" charset="0"/>
                <a:ea typeface="ＭＳ Ｐゴシック" charset="-128"/>
              </a:rPr>
              <a:t>Critique of Judgement</a:t>
            </a:r>
            <a:r>
              <a:rPr lang="en-US" altLang="x-none" sz="2500" dirty="0">
                <a:latin typeface="Gill Sans MT" charset="0"/>
                <a:ea typeface="ＭＳ Ｐゴシック" charset="-128"/>
              </a:rPr>
              <a:t>, 1790,§53, ‘Comparison of the Aesthetic Value of the Fine Arts’): ‘[M]</a:t>
            </a:r>
            <a:r>
              <a:rPr lang="en-US" altLang="x-none" sz="2500" dirty="0" err="1">
                <a:latin typeface="Gill Sans MT" charset="0"/>
                <a:ea typeface="ＭＳ Ｐゴシック" charset="-128"/>
              </a:rPr>
              <a:t>usic</a:t>
            </a:r>
            <a:r>
              <a:rPr lang="en-US" altLang="x-none" sz="2500" dirty="0">
                <a:latin typeface="Gill Sans MT" charset="0"/>
                <a:ea typeface="ＭＳ Ｐゴシック" charset="-128"/>
              </a:rPr>
              <a:t>, since it merely plays with sensations, has the lowest place among the fine arts (just as it may have the highest among those we assess by their agreeableness as well.)’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0"/>
            <a:ext cx="8229600" cy="1143000"/>
          </a:xfrm>
        </p:spPr>
        <p:txBody>
          <a:bodyPr/>
          <a:lstStyle/>
          <a:p>
            <a:pPr eaLnBrk="1" hangingPunct="1"/>
            <a:r>
              <a:rPr lang="en-US" altLang="x-none" dirty="0">
                <a:latin typeface="Gill Sans MT" charset="0"/>
                <a:ea typeface="ＭＳ Ｐゴシック" charset="-128"/>
              </a:rPr>
              <a:t>Beethoven in context</a:t>
            </a:r>
          </a:p>
        </p:txBody>
      </p:sp>
      <p:sp>
        <p:nvSpPr>
          <p:cNvPr id="3" name="Vertical Text Placeholder 2"/>
          <p:cNvSpPr>
            <a:spLocks noGrp="1"/>
          </p:cNvSpPr>
          <p:nvPr>
            <p:ph type="body" orient="vert" idx="1"/>
          </p:nvPr>
        </p:nvSpPr>
        <p:spPr>
          <a:xfrm>
            <a:off x="395536" y="1166018"/>
            <a:ext cx="8229600" cy="4525963"/>
          </a:xfrm>
        </p:spPr>
        <p:txBody>
          <a:bodyPr vert="horz"/>
          <a:lstStyle/>
          <a:p>
            <a:pPr marL="0" indent="0" algn="just" eaLnBrk="1" hangingPunct="1">
              <a:lnSpc>
                <a:spcPct val="80000"/>
              </a:lnSpc>
              <a:buNone/>
            </a:pPr>
            <a:r>
              <a:rPr lang="en-US" sz="2800" dirty="0"/>
              <a:t>E. T. A. Hoffmann (1810, rev. 1813)</a:t>
            </a:r>
          </a:p>
          <a:p>
            <a:pPr marL="0" indent="0" algn="just" eaLnBrk="1" hangingPunct="1">
              <a:lnSpc>
                <a:spcPct val="80000"/>
              </a:lnSpc>
              <a:buNone/>
            </a:pPr>
            <a:endParaRPr lang="en-US" sz="2800" dirty="0"/>
          </a:p>
          <a:p>
            <a:pPr marL="0" indent="0" algn="just" eaLnBrk="1" hangingPunct="1">
              <a:buNone/>
            </a:pPr>
            <a:r>
              <a:rPr lang="en-US" sz="2400" dirty="0"/>
              <a:t>‘When we speak of music as an independent art, we should properly refer only to instrumental music which, scorning the assistance and association of another art, namely poetry, expresses that peculiar property which can be found in music only? It is the most romantic of all the arts, one might almost say the only really romantic art, for its sole object is the expression of the infinite. […] Music discloses to man an unknown kingdom, a world having nothing in common with the external sensual world which surrounds him and in which he leaves behind him all in order to abandon himself to an inexpressible longing.’</a:t>
            </a:r>
            <a:r>
              <a:rPr lang="en-GB" sz="2400" dirty="0">
                <a:effectLst/>
              </a:rPr>
              <a:t> </a:t>
            </a:r>
          </a:p>
          <a:p>
            <a:pPr marL="0" indent="0" algn="just" eaLnBrk="1" hangingPunct="1">
              <a:lnSpc>
                <a:spcPct val="80000"/>
              </a:lnSpc>
              <a:buNone/>
            </a:pPr>
            <a:endParaRPr lang="en-GB" altLang="x-none" sz="2800" dirty="0">
              <a:latin typeface="Gill Sans MT" charset="0"/>
              <a:ea typeface="ＭＳ Ｐゴシック" charset="-128"/>
            </a:endParaRPr>
          </a:p>
          <a:p>
            <a:pPr marL="0" indent="0" algn="just" eaLnBrk="1" hangingPunct="1">
              <a:lnSpc>
                <a:spcPct val="80000"/>
              </a:lnSpc>
              <a:buNone/>
            </a:pPr>
            <a:endParaRPr lang="en-US" altLang="x-none" sz="2500" dirty="0">
              <a:latin typeface="Gill Sans MT" charset="0"/>
              <a:ea typeface="ＭＳ Ｐゴシック" charset="-128"/>
            </a:endParaRPr>
          </a:p>
        </p:txBody>
      </p:sp>
      <p:sp>
        <p:nvSpPr>
          <p:cNvPr id="2" name="Vertical Text Placeholder 2">
            <a:extLst>
              <a:ext uri="{FF2B5EF4-FFF2-40B4-BE49-F238E27FC236}">
                <a16:creationId xmlns:a16="http://schemas.microsoft.com/office/drawing/2014/main" id="{3BABF0AB-C0C4-BE41-0518-7C6249553F42}"/>
              </a:ext>
            </a:extLst>
          </p:cNvPr>
          <p:cNvSpPr txBox="1">
            <a:spLocks/>
          </p:cNvSpPr>
          <p:nvPr/>
        </p:nvSpPr>
        <p:spPr bwMode="auto">
          <a:xfrm>
            <a:off x="3790256" y="6093296"/>
            <a:ext cx="4896544"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eaLnBrk="1" hangingPunct="1">
              <a:lnSpc>
                <a:spcPct val="80000"/>
              </a:lnSpc>
              <a:buFont typeface="Arial" charset="0"/>
              <a:buNone/>
            </a:pPr>
            <a:r>
              <a:rPr lang="en-GB" altLang="x-none" sz="2800" dirty="0">
                <a:latin typeface="Gill Sans MT" charset="0"/>
                <a:ea typeface="ＭＳ Ｐゴシック" charset="-128"/>
              </a:rPr>
              <a:t>‘Beethoven’s Instrumental Music’</a:t>
            </a:r>
            <a:endParaRPr lang="en-US" altLang="x-none" sz="2500" dirty="0">
              <a:latin typeface="Gill Sans MT" charset="0"/>
              <a:ea typeface="ＭＳ Ｐゴシック" charset="-128"/>
            </a:endParaRPr>
          </a:p>
        </p:txBody>
      </p:sp>
    </p:spTree>
    <p:extLst>
      <p:ext uri="{BB962C8B-B14F-4D97-AF65-F5344CB8AC3E}">
        <p14:creationId xmlns:p14="http://schemas.microsoft.com/office/powerpoint/2010/main" val="47688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1" y="457200"/>
            <a:ext cx="3523118" cy="4483968"/>
          </a:xfrm>
          <a:prstGeom prst="rect">
            <a:avLst/>
          </a:prstGeom>
          <a:noFill/>
          <a:ln>
            <a:noFill/>
          </a:ln>
          <a:effectLst>
            <a:outerShdw blurRad="63500" dist="76200" dir="9000000" sx="101000" sy="101000" algn="ctr" rotWithShape="0">
              <a:srgbClr val="000000">
                <a:alpha val="37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6" name="TextBox 2"/>
          <p:cNvSpPr txBox="1">
            <a:spLocks noChangeArrowheads="1"/>
          </p:cNvSpPr>
          <p:nvPr/>
        </p:nvSpPr>
        <p:spPr bwMode="auto">
          <a:xfrm>
            <a:off x="4716016" y="168617"/>
            <a:ext cx="4248472" cy="886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r>
              <a:rPr lang="en-US" altLang="x-none" sz="2800" dirty="0">
                <a:latin typeface="Gill Sans MT" charset="0"/>
              </a:rPr>
              <a:t>Romanticism</a:t>
            </a:r>
          </a:p>
          <a:p>
            <a:pPr eaLnBrk="1" hangingPunct="1"/>
            <a:endParaRPr lang="en-US" altLang="x-none" sz="1800" dirty="0">
              <a:latin typeface="Gill Sans MT" charset="0"/>
            </a:endParaRPr>
          </a:p>
          <a:p>
            <a:pPr marL="342900" indent="-342900" eaLnBrk="1" hangingPunct="1">
              <a:buFont typeface="Arial" panose="020B0604020202020204" pitchFamily="34" charset="0"/>
              <a:buChar char="•"/>
            </a:pPr>
            <a:r>
              <a:rPr lang="en-GB" altLang="x-none" sz="2000" dirty="0">
                <a:latin typeface="Gill Sans MT" charset="0"/>
              </a:rPr>
              <a:t>Cultural ‘movement’ around the turn of the nineteenth century</a:t>
            </a:r>
          </a:p>
          <a:p>
            <a:pPr marL="342900" indent="-342900" eaLnBrk="1" hangingPunct="1">
              <a:buFont typeface="Arial" panose="020B0604020202020204" pitchFamily="34" charset="0"/>
              <a:buChar char="•"/>
            </a:pPr>
            <a:r>
              <a:rPr lang="en-GB" altLang="x-none" sz="2000" dirty="0">
                <a:latin typeface="Gill Sans MT" charset="0"/>
              </a:rPr>
              <a:t>Focus turned inward: exploration of self and relationship to others and to nature; search for the divine in the self and/or in nature</a:t>
            </a:r>
          </a:p>
          <a:p>
            <a:pPr marL="342900" indent="-342900" eaLnBrk="1" hangingPunct="1">
              <a:buFont typeface="Arial" panose="020B0604020202020204" pitchFamily="34" charset="0"/>
              <a:buChar char="•"/>
            </a:pPr>
            <a:r>
              <a:rPr lang="en-GB" altLang="x-none" sz="2000" b="1" dirty="0">
                <a:latin typeface="Gill Sans MT" charset="0"/>
              </a:rPr>
              <a:t>‘Sublime’ </a:t>
            </a:r>
            <a:r>
              <a:rPr lang="en-GB" altLang="x-none" sz="2000" dirty="0">
                <a:latin typeface="Gill Sans MT" charset="0"/>
              </a:rPr>
              <a:t>rather than beautiful</a:t>
            </a:r>
          </a:p>
          <a:p>
            <a:pPr eaLnBrk="1" hangingPunct="1"/>
            <a:endParaRPr lang="en-GB" altLang="x-none" sz="2000" dirty="0">
              <a:latin typeface="Gill Sans MT" charset="0"/>
            </a:endParaRPr>
          </a:p>
          <a:p>
            <a:pPr marL="342900" indent="-342900" eaLnBrk="1" hangingPunct="1">
              <a:buFont typeface="Arial" panose="020B0604020202020204" pitchFamily="34" charset="0"/>
              <a:buChar char="•"/>
            </a:pPr>
            <a:r>
              <a:rPr lang="en-GB" altLang="x-none" sz="2000" dirty="0">
                <a:latin typeface="Gill Sans MT" charset="0"/>
              </a:rPr>
              <a:t>Imagination and inspiration placed higher than rational thought</a:t>
            </a:r>
          </a:p>
          <a:p>
            <a:pPr marL="342900" indent="-342900" eaLnBrk="1" hangingPunct="1">
              <a:buFont typeface="Arial" panose="020B0604020202020204" pitchFamily="34" charset="0"/>
              <a:buChar char="•"/>
            </a:pPr>
            <a:r>
              <a:rPr lang="en-GB" altLang="x-none" sz="2000" dirty="0">
                <a:latin typeface="Gill Sans MT" charset="0"/>
              </a:rPr>
              <a:t>‘Feeling’ beyond language of central importance</a:t>
            </a:r>
          </a:p>
          <a:p>
            <a:pPr marL="342900" indent="-342900" eaLnBrk="1" hangingPunct="1">
              <a:buFont typeface="Arial" panose="020B0604020202020204" pitchFamily="34" charset="0"/>
              <a:buChar char="•"/>
            </a:pPr>
            <a:r>
              <a:rPr lang="en-GB" altLang="x-none" sz="2000" dirty="0">
                <a:latin typeface="Gill Sans MT" charset="0"/>
              </a:rPr>
              <a:t>Music and poetry as highest of all the arts and of human endeavour</a:t>
            </a:r>
          </a:p>
          <a:p>
            <a:pPr marL="342900" indent="-342900" eaLnBrk="1" hangingPunct="1">
              <a:buFont typeface="Arial" panose="020B0604020202020204" pitchFamily="34" charset="0"/>
              <a:buChar char="•"/>
            </a:pPr>
            <a:r>
              <a:rPr lang="en-GB" altLang="x-none" sz="2000" dirty="0">
                <a:latin typeface="Gill Sans MT" charset="0"/>
              </a:rPr>
              <a:t>Often ‘revolutionary’ attitude towards established social/ political norms</a:t>
            </a:r>
          </a:p>
          <a:p>
            <a:pPr marL="342900" indent="-342900" eaLnBrk="1" hangingPunct="1">
              <a:buFont typeface="Arial" panose="020B0604020202020204" pitchFamily="34" charset="0"/>
              <a:buChar char="•"/>
            </a:pPr>
            <a:endParaRPr lang="en-GB" altLang="x-none" sz="2000" dirty="0">
              <a:latin typeface="Gill Sans MT" charset="0"/>
            </a:endParaRPr>
          </a:p>
          <a:p>
            <a:pPr eaLnBrk="1" hangingPunct="1"/>
            <a:endParaRPr lang="en-GB" altLang="x-none" sz="2000" dirty="0">
              <a:latin typeface="Gill Sans MT" charset="0"/>
            </a:endParaRPr>
          </a:p>
          <a:p>
            <a:pPr eaLnBrk="1" hangingPunct="1"/>
            <a:endParaRPr lang="en-US" altLang="x-none" sz="1800" dirty="0">
              <a:latin typeface="Gill Sans MT" charset="0"/>
            </a:endParaRPr>
          </a:p>
          <a:p>
            <a:pPr eaLnBrk="1" hangingPunct="1"/>
            <a:endParaRPr lang="en-US" altLang="x-none" sz="1800" dirty="0">
              <a:latin typeface="Gill Sans MT" charset="0"/>
            </a:endParaRPr>
          </a:p>
          <a:p>
            <a:pPr eaLnBrk="1" hangingPunct="1"/>
            <a:endParaRPr lang="en-US" altLang="x-none" sz="1800" dirty="0">
              <a:latin typeface="Gill Sans MT" charset="0"/>
            </a:endParaRPr>
          </a:p>
          <a:p>
            <a:pPr eaLnBrk="1" hangingPunct="1"/>
            <a:endParaRPr lang="en-US" altLang="x-none" sz="1800" dirty="0">
              <a:latin typeface="Gill Sans MT" charset="0"/>
            </a:endParaRPr>
          </a:p>
          <a:p>
            <a:pPr eaLnBrk="1" hangingPunct="1"/>
            <a:endParaRPr lang="en-US" altLang="x-none" sz="1800" dirty="0">
              <a:latin typeface="Gill Sans MT" charset="0"/>
            </a:endParaRPr>
          </a:p>
          <a:p>
            <a:pPr eaLnBrk="1" hangingPunct="1"/>
            <a:endParaRPr lang="en-US" altLang="x-none" sz="1800" dirty="0">
              <a:latin typeface="Gill Sans MT" charset="0"/>
            </a:endParaRPr>
          </a:p>
          <a:p>
            <a:pPr eaLnBrk="1" hangingPunct="1"/>
            <a:endParaRPr lang="en-US" altLang="x-none" sz="1800" dirty="0">
              <a:latin typeface="Gill Sans MT" charset="0"/>
            </a:endParaRPr>
          </a:p>
          <a:p>
            <a:pPr eaLnBrk="1" hangingPunct="1"/>
            <a:endParaRPr lang="en-US" altLang="x-none" sz="1800" dirty="0">
              <a:latin typeface="Gill Sans MT" charset="0"/>
            </a:endParaRPr>
          </a:p>
        </p:txBody>
      </p:sp>
      <p:sp>
        <p:nvSpPr>
          <p:cNvPr id="2" name="TextBox 1">
            <a:extLst>
              <a:ext uri="{FF2B5EF4-FFF2-40B4-BE49-F238E27FC236}">
                <a16:creationId xmlns:a16="http://schemas.microsoft.com/office/drawing/2014/main" id="{242EFA5B-724E-1D49-A595-88C66FD9D50F}"/>
              </a:ext>
            </a:extLst>
          </p:cNvPr>
          <p:cNvSpPr txBox="1"/>
          <p:nvPr/>
        </p:nvSpPr>
        <p:spPr>
          <a:xfrm>
            <a:off x="539552" y="5445224"/>
            <a:ext cx="3327321" cy="1200329"/>
          </a:xfrm>
          <a:prstGeom prst="rect">
            <a:avLst/>
          </a:prstGeom>
          <a:noFill/>
        </p:spPr>
        <p:txBody>
          <a:bodyPr wrap="none" rtlCol="0">
            <a:spAutoFit/>
          </a:bodyPr>
          <a:lstStyle/>
          <a:p>
            <a:r>
              <a:rPr lang="en-US" altLang="x-none" dirty="0">
                <a:latin typeface="Gill Sans MT" charset="0"/>
              </a:rPr>
              <a:t>Caspar David Friedrich, </a:t>
            </a:r>
          </a:p>
          <a:p>
            <a:r>
              <a:rPr lang="en-US" altLang="x-none" i="1" dirty="0">
                <a:latin typeface="Gill Sans MT" charset="0"/>
              </a:rPr>
              <a:t>Der Wanderer </a:t>
            </a:r>
            <a:r>
              <a:rPr lang="en-US" altLang="x-none" i="1" dirty="0" err="1">
                <a:latin typeface="Gill Sans MT" charset="0"/>
              </a:rPr>
              <a:t>über</a:t>
            </a:r>
            <a:r>
              <a:rPr lang="en-US" altLang="x-none" i="1" dirty="0">
                <a:latin typeface="Gill Sans MT" charset="0"/>
              </a:rPr>
              <a:t> </a:t>
            </a:r>
            <a:r>
              <a:rPr lang="en-US" altLang="x-none" i="1" dirty="0" err="1">
                <a:latin typeface="Gill Sans MT" charset="0"/>
              </a:rPr>
              <a:t>dem</a:t>
            </a:r>
            <a:r>
              <a:rPr lang="en-US" altLang="x-none" i="1" dirty="0">
                <a:latin typeface="Gill Sans MT" charset="0"/>
              </a:rPr>
              <a:t> </a:t>
            </a:r>
            <a:r>
              <a:rPr lang="en-US" altLang="x-none" i="1" dirty="0" err="1">
                <a:latin typeface="Gill Sans MT" charset="0"/>
              </a:rPr>
              <a:t>Nebelmeer</a:t>
            </a:r>
            <a:endParaRPr lang="en-US" altLang="x-none" i="1" dirty="0">
              <a:latin typeface="Gill Sans MT" charset="0"/>
            </a:endParaRPr>
          </a:p>
          <a:p>
            <a:r>
              <a:rPr lang="en-US" altLang="x-none" dirty="0">
                <a:latin typeface="Gill Sans MT" charset="0"/>
              </a:rPr>
              <a:t>(c.1818)</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04800"/>
            <a:ext cx="5032375" cy="6278563"/>
          </a:xfrm>
          <a:prstGeom prst="rect">
            <a:avLst/>
          </a:prstGeom>
          <a:noFill/>
          <a:ln>
            <a:noFill/>
          </a:ln>
          <a:effectLst>
            <a:outerShdw blurRad="63500" dist="165100" dir="7800000" sx="99000" sy="99000" algn="ctr" rotWithShape="0">
              <a:srgbClr val="000000">
                <a:alpha val="37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9936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a:xfrm>
            <a:off x="685800" y="2389783"/>
            <a:ext cx="7772400" cy="1470025"/>
          </a:xfrm>
        </p:spPr>
        <p:txBody>
          <a:bodyPr/>
          <a:lstStyle/>
          <a:p>
            <a:pPr eaLnBrk="1" hangingPunct="1"/>
            <a:r>
              <a:rPr lang="en-US" altLang="x-none" sz="4000" dirty="0">
                <a:latin typeface="Gill Sans MT" charset="0"/>
                <a:ea typeface="ＭＳ Ｐゴシック" charset="-128"/>
              </a:rPr>
              <a:t>1. Symphonic Prestige</a:t>
            </a:r>
            <a:br>
              <a:rPr lang="en-GB" altLang="x-none" sz="4000" dirty="0">
                <a:latin typeface="Gill Sans MT" charset="0"/>
                <a:ea typeface="ＭＳ Ｐゴシック" charset="-128"/>
              </a:rPr>
            </a:br>
            <a:br>
              <a:rPr lang="en-GB" altLang="x-none" sz="4000" dirty="0">
                <a:latin typeface="Gill Sans MT" charset="0"/>
                <a:ea typeface="ＭＳ Ｐゴシック" charset="-128"/>
              </a:rPr>
            </a:br>
            <a:r>
              <a:rPr lang="en-GB" altLang="x-none" sz="4000" b="1" dirty="0">
                <a:latin typeface="Gill Sans MT" charset="0"/>
                <a:ea typeface="ＭＳ Ｐゴシック" charset="-128"/>
              </a:rPr>
              <a:t>2. Beethoven’s ‘Heroic’…</a:t>
            </a:r>
            <a:br>
              <a:rPr lang="en-GB" altLang="x-none" sz="4000" b="1" dirty="0">
                <a:latin typeface="Gill Sans MT" charset="0"/>
                <a:ea typeface="ＭＳ Ｐゴシック" charset="-128"/>
              </a:rPr>
            </a:br>
            <a:br>
              <a:rPr lang="en-GB" altLang="x-none" sz="4000" dirty="0">
                <a:latin typeface="Gill Sans MT" charset="0"/>
                <a:ea typeface="ＭＳ Ｐゴシック" charset="-128"/>
              </a:rPr>
            </a:br>
            <a:r>
              <a:rPr lang="en-GB" altLang="x-none" sz="4000" dirty="0">
                <a:latin typeface="Gill Sans MT" charset="0"/>
                <a:ea typeface="ＭＳ Ｐゴシック" charset="-128"/>
              </a:rPr>
              <a:t>3. … and the ‘Symphony Concert’</a:t>
            </a:r>
            <a:br>
              <a:rPr lang="en-GB" altLang="x-none" sz="4000" dirty="0">
                <a:latin typeface="Gill Sans MT" charset="0"/>
                <a:ea typeface="ＭＳ Ｐゴシック" charset="-128"/>
              </a:rPr>
            </a:br>
            <a:br>
              <a:rPr lang="en-GB" altLang="x-none" sz="4000" dirty="0">
                <a:latin typeface="Gill Sans MT" charset="0"/>
                <a:ea typeface="ＭＳ Ｐゴシック" charset="-128"/>
              </a:rPr>
            </a:br>
            <a:r>
              <a:rPr lang="en-GB" altLang="x-none" sz="4000" dirty="0">
                <a:latin typeface="Gill Sans MT" charset="0"/>
                <a:ea typeface="ＭＳ Ｐゴシック" charset="-128"/>
              </a:rPr>
              <a:t>4. Mahler and the ‘Chain of Being’</a:t>
            </a:r>
            <a:endParaRPr lang="en-US" altLang="x-none" sz="4000" dirty="0">
              <a:latin typeface="Gill Sans MT" charset="0"/>
              <a:ea typeface="ＭＳ Ｐゴシック" charset="-128"/>
            </a:endParaRPr>
          </a:p>
        </p:txBody>
      </p:sp>
    </p:spTree>
    <p:extLst>
      <p:ext uri="{BB962C8B-B14F-4D97-AF65-F5344CB8AC3E}">
        <p14:creationId xmlns:p14="http://schemas.microsoft.com/office/powerpoint/2010/main" val="1985785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pPr eaLnBrk="1" hangingPunct="1"/>
            <a:r>
              <a:rPr lang="en-US" altLang="x-none" b="1" dirty="0">
                <a:latin typeface="Gill Sans MT" charset="0"/>
                <a:ea typeface="ＭＳ Ｐゴシック" charset="-128"/>
              </a:rPr>
              <a:t>Beethoven and the Symphony</a:t>
            </a:r>
          </a:p>
        </p:txBody>
      </p:sp>
      <p:sp>
        <p:nvSpPr>
          <p:cNvPr id="19459" name="Vertical Text Placeholder 2"/>
          <p:cNvSpPr>
            <a:spLocks noGrp="1"/>
          </p:cNvSpPr>
          <p:nvPr>
            <p:ph type="body" orient="vert" idx="1"/>
          </p:nvPr>
        </p:nvSpPr>
        <p:spPr>
          <a:xfrm>
            <a:off x="457200" y="1446238"/>
            <a:ext cx="8229600" cy="4525963"/>
          </a:xfrm>
        </p:spPr>
        <p:txBody>
          <a:bodyPr vert="horz"/>
          <a:lstStyle/>
          <a:p>
            <a:pPr eaLnBrk="1" hangingPunct="1"/>
            <a:r>
              <a:rPr lang="en-US" altLang="x-none" dirty="0">
                <a:latin typeface="Gill Sans MT" charset="0"/>
                <a:ea typeface="ＭＳ Ｐゴシック" charset="-128"/>
              </a:rPr>
              <a:t>Composed between 1799 and 1824</a:t>
            </a:r>
          </a:p>
          <a:p>
            <a:pPr eaLnBrk="1" hangingPunct="1"/>
            <a:r>
              <a:rPr lang="en-US" altLang="x-none" dirty="0">
                <a:latin typeface="Gill Sans MT" charset="0"/>
                <a:ea typeface="ＭＳ Ｐゴシック" charset="-128"/>
              </a:rPr>
              <a:t>Generally split into three groups: </a:t>
            </a:r>
          </a:p>
          <a:p>
            <a:pPr eaLnBrk="1" hangingPunct="1"/>
            <a:r>
              <a:rPr lang="en-US" altLang="x-none" dirty="0">
                <a:latin typeface="Gill Sans MT" charset="0"/>
                <a:ea typeface="ＭＳ Ｐゴシック" charset="-128"/>
              </a:rPr>
              <a:t>(a) Nos. 1 and 2 (</a:t>
            </a:r>
            <a:r>
              <a:rPr lang="en-US" altLang="en-US" dirty="0">
                <a:latin typeface="Gill Sans MT" charset="0"/>
                <a:ea typeface="ＭＳ Ｐゴシック" charset="-128"/>
              </a:rPr>
              <a:t>‘</a:t>
            </a:r>
            <a:r>
              <a:rPr lang="en-US" altLang="x-none" dirty="0">
                <a:latin typeface="Gill Sans MT" charset="0"/>
                <a:ea typeface="ＭＳ Ｐゴシック" charset="-128"/>
              </a:rPr>
              <a:t>Early</a:t>
            </a:r>
            <a:r>
              <a:rPr lang="en-US" altLang="en-US" dirty="0">
                <a:latin typeface="Gill Sans MT" charset="0"/>
                <a:ea typeface="ＭＳ Ｐゴシック" charset="-128"/>
              </a:rPr>
              <a:t>’</a:t>
            </a:r>
            <a:r>
              <a:rPr lang="en-US" altLang="x-none" dirty="0">
                <a:latin typeface="Gill Sans MT" charset="0"/>
                <a:ea typeface="ＭＳ Ｐゴシック" charset="-128"/>
              </a:rPr>
              <a:t>); (b) Nos. 3 – 8 (</a:t>
            </a:r>
            <a:r>
              <a:rPr lang="en-US" altLang="en-US" dirty="0">
                <a:latin typeface="Gill Sans MT" charset="0"/>
                <a:ea typeface="ＭＳ Ｐゴシック" charset="-128"/>
              </a:rPr>
              <a:t>‘</a:t>
            </a:r>
            <a:r>
              <a:rPr lang="en-US" altLang="x-none" dirty="0">
                <a:latin typeface="Gill Sans MT" charset="0"/>
                <a:ea typeface="ＭＳ Ｐゴシック" charset="-128"/>
              </a:rPr>
              <a:t>Middle</a:t>
            </a:r>
            <a:r>
              <a:rPr lang="en-US" altLang="en-US" dirty="0">
                <a:latin typeface="Gill Sans MT" charset="0"/>
                <a:ea typeface="ＭＳ Ｐゴシック" charset="-128"/>
              </a:rPr>
              <a:t>’</a:t>
            </a:r>
            <a:r>
              <a:rPr lang="en-US" altLang="x-none" dirty="0">
                <a:latin typeface="Gill Sans MT" charset="0"/>
                <a:ea typeface="ＭＳ Ｐゴシック" charset="-128"/>
              </a:rPr>
              <a:t> or </a:t>
            </a:r>
            <a:r>
              <a:rPr lang="en-US" altLang="en-US" dirty="0">
                <a:latin typeface="Gill Sans MT" charset="0"/>
                <a:ea typeface="ＭＳ Ｐゴシック" charset="-128"/>
              </a:rPr>
              <a:t>‘</a:t>
            </a:r>
            <a:r>
              <a:rPr lang="en-US" altLang="x-none" dirty="0">
                <a:latin typeface="Gill Sans MT" charset="0"/>
                <a:ea typeface="ＭＳ Ｐゴシック" charset="-128"/>
              </a:rPr>
              <a:t>Heroic</a:t>
            </a:r>
            <a:r>
              <a:rPr lang="en-US" altLang="en-US" dirty="0">
                <a:latin typeface="Gill Sans MT" charset="0"/>
                <a:ea typeface="ＭＳ Ｐゴシック" charset="-128"/>
              </a:rPr>
              <a:t>’</a:t>
            </a:r>
            <a:r>
              <a:rPr lang="en-US" altLang="x-none" dirty="0">
                <a:latin typeface="Gill Sans MT" charset="0"/>
                <a:ea typeface="ＭＳ Ｐゴシック" charset="-128"/>
              </a:rPr>
              <a:t>); (c) No. 9 (</a:t>
            </a:r>
            <a:r>
              <a:rPr lang="en-US" altLang="en-US" dirty="0">
                <a:latin typeface="Gill Sans MT" charset="0"/>
                <a:ea typeface="ＭＳ Ｐゴシック" charset="-128"/>
              </a:rPr>
              <a:t>‘</a:t>
            </a:r>
            <a:r>
              <a:rPr lang="en-US" altLang="x-none" dirty="0">
                <a:latin typeface="Gill Sans MT" charset="0"/>
                <a:ea typeface="ＭＳ Ｐゴシック" charset="-128"/>
              </a:rPr>
              <a:t>Late</a:t>
            </a:r>
            <a:r>
              <a:rPr lang="en-US" altLang="en-US" dirty="0">
                <a:latin typeface="Gill Sans MT" charset="0"/>
                <a:ea typeface="ＭＳ Ｐゴシック" charset="-128"/>
              </a:rPr>
              <a:t>’</a:t>
            </a:r>
            <a:r>
              <a:rPr lang="en-US" altLang="x-none" dirty="0">
                <a:latin typeface="Gill Sans MT" charset="0"/>
                <a:ea typeface="ＭＳ Ｐゴシック" charset="-128"/>
              </a:rPr>
              <a:t>)</a:t>
            </a:r>
          </a:p>
          <a:p>
            <a:pPr eaLnBrk="1" hangingPunct="1"/>
            <a:r>
              <a:rPr lang="en-GB" altLang="en-US" dirty="0">
                <a:latin typeface="Gill Sans MT" charset="0"/>
                <a:ea typeface="ＭＳ Ｐゴシック" charset="-128"/>
              </a:rPr>
              <a:t>Example: ‘</a:t>
            </a:r>
            <a:r>
              <a:rPr lang="en-US" altLang="ja-JP" dirty="0">
                <a:latin typeface="Gill Sans MT" charset="0"/>
                <a:ea typeface="ＭＳ Ｐゴシック" charset="-128"/>
              </a:rPr>
              <a:t>Eroica</a:t>
            </a:r>
            <a:r>
              <a:rPr lang="en-GB" altLang="en-US" dirty="0">
                <a:latin typeface="Gill Sans MT" charset="0"/>
                <a:ea typeface="ＭＳ Ｐゴシック" charset="-128"/>
              </a:rPr>
              <a:t>’</a:t>
            </a:r>
            <a:r>
              <a:rPr lang="en-US" altLang="ja-JP" dirty="0">
                <a:latin typeface="Gill Sans MT" charset="0"/>
                <a:ea typeface="ＭＳ Ｐゴシック" charset="-128"/>
              </a:rPr>
              <a:t> Symphony (No. 3 in Eb major, Op. 55)</a:t>
            </a:r>
          </a:p>
          <a:p>
            <a:pPr eaLnBrk="1" hangingPunct="1"/>
            <a:r>
              <a:rPr lang="en-US" altLang="x-none" dirty="0">
                <a:latin typeface="Gill Sans MT" charset="0"/>
                <a:ea typeface="ＭＳ Ｐゴシック" charset="-128"/>
              </a:rPr>
              <a:t>See Scott Burnham, </a:t>
            </a:r>
            <a:r>
              <a:rPr lang="en-US" altLang="x-none" i="1" dirty="0">
                <a:latin typeface="Gill Sans MT" charset="0"/>
                <a:ea typeface="ＭＳ Ｐゴシック" charset="-128"/>
              </a:rPr>
              <a:t>Beethoven Hero </a:t>
            </a:r>
            <a:r>
              <a:rPr lang="en-US" altLang="x-none" dirty="0">
                <a:latin typeface="Gill Sans MT" charset="0"/>
                <a:ea typeface="ＭＳ Ｐゴシック" charset="-128"/>
              </a:rPr>
              <a:t>(Ch. 1 – see </a:t>
            </a:r>
            <a:r>
              <a:rPr lang="en-US" altLang="x-none" dirty="0" err="1">
                <a:latin typeface="Gill Sans MT" charset="0"/>
                <a:ea typeface="ＭＳ Ｐゴシック" charset="-128"/>
              </a:rPr>
              <a:t>Resourcelist</a:t>
            </a:r>
            <a:r>
              <a:rPr lang="en-US" altLang="x-none" dirty="0">
                <a:latin typeface="Gill Sans MT" charset="0"/>
                <a:ea typeface="ＭＳ Ｐゴシック" charset="-128"/>
              </a:rPr>
              <a:t>!) for detailed historical interpretations</a:t>
            </a:r>
          </a:p>
          <a:p>
            <a:pPr lvl="1" eaLnBrk="1" hangingPunct="1">
              <a:buFont typeface="Arial" charset="0"/>
              <a:buNone/>
            </a:pPr>
            <a:endParaRPr lang="en-US" altLang="x-none" dirty="0">
              <a:latin typeface="Gill Sans MT" charset="0"/>
              <a:ea typeface="ＭＳ Ｐゴシック"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637088"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6913" y="17463"/>
            <a:ext cx="4637087"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a:spLocks noChangeArrowheads="1"/>
          </p:cNvSpPr>
          <p:nvPr/>
        </p:nvSpPr>
        <p:spPr bwMode="auto">
          <a:xfrm>
            <a:off x="1130871" y="1412776"/>
            <a:ext cx="1064865" cy="5067399"/>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637088"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6"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6913" y="0"/>
            <a:ext cx="4637087"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4B1EEFE9-5E3C-F04C-9A29-6E6955971180}"/>
              </a:ext>
            </a:extLst>
          </p:cNvPr>
          <p:cNvSpPr>
            <a:spLocks noChangeArrowheads="1"/>
          </p:cNvSpPr>
          <p:nvPr/>
        </p:nvSpPr>
        <p:spPr bwMode="auto">
          <a:xfrm>
            <a:off x="4788024" y="260649"/>
            <a:ext cx="3168352" cy="3600400"/>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88912"/>
            <a:ext cx="4637088"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0"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6913" y="0"/>
            <a:ext cx="4637087"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C8E2B073-A1CF-964C-ADA6-87E396AFDFCA}"/>
              </a:ext>
            </a:extLst>
          </p:cNvPr>
          <p:cNvSpPr>
            <a:spLocks noChangeArrowheads="1"/>
          </p:cNvSpPr>
          <p:nvPr/>
        </p:nvSpPr>
        <p:spPr bwMode="auto">
          <a:xfrm>
            <a:off x="1043609" y="620688"/>
            <a:ext cx="720080" cy="5544616"/>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637088"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6913" y="17463"/>
            <a:ext cx="4637087"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ChangeArrowheads="1"/>
          </p:cNvSpPr>
          <p:nvPr/>
        </p:nvSpPr>
        <p:spPr bwMode="auto">
          <a:xfrm>
            <a:off x="3276600" y="5373688"/>
            <a:ext cx="790575" cy="358775"/>
          </a:xfrm>
          <a:prstGeom prst="rect">
            <a:avLst/>
          </a:prstGeom>
          <a:noFill/>
          <a:ln w="28575">
            <a:solidFill>
              <a:srgbClr val="FF0000"/>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0000"/>
              </a:solidFill>
              <a:latin typeface="Calibri" charset="0"/>
            </a:endParaRPr>
          </a:p>
        </p:txBody>
      </p:sp>
      <p:sp>
        <p:nvSpPr>
          <p:cNvPr id="4" name="Rectangle 3"/>
          <p:cNvSpPr>
            <a:spLocks noChangeArrowheads="1"/>
          </p:cNvSpPr>
          <p:nvPr/>
        </p:nvSpPr>
        <p:spPr bwMode="auto">
          <a:xfrm>
            <a:off x="2195513" y="5300663"/>
            <a:ext cx="2089150" cy="504825"/>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Tree>
    <p:extLst>
      <p:ext uri="{BB962C8B-B14F-4D97-AF65-F5344CB8AC3E}">
        <p14:creationId xmlns:p14="http://schemas.microsoft.com/office/powerpoint/2010/main" val="1596783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8640"/>
            <a:ext cx="9144000" cy="6461615"/>
          </a:xfrm>
          <a:prstGeom prst="rect">
            <a:avLst/>
          </a:prstGeom>
        </p:spPr>
      </p:pic>
      <p:sp>
        <p:nvSpPr>
          <p:cNvPr id="5" name="Rectangle 4"/>
          <p:cNvSpPr>
            <a:spLocks noChangeArrowheads="1"/>
          </p:cNvSpPr>
          <p:nvPr/>
        </p:nvSpPr>
        <p:spPr bwMode="auto">
          <a:xfrm>
            <a:off x="2267744" y="2348881"/>
            <a:ext cx="1800200" cy="360040"/>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6" name="Rectangle 5"/>
          <p:cNvSpPr>
            <a:spLocks noChangeArrowheads="1"/>
          </p:cNvSpPr>
          <p:nvPr/>
        </p:nvSpPr>
        <p:spPr bwMode="auto">
          <a:xfrm>
            <a:off x="5076056" y="836712"/>
            <a:ext cx="1296144" cy="720080"/>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Tree>
    <p:extLst>
      <p:ext uri="{BB962C8B-B14F-4D97-AF65-F5344CB8AC3E}">
        <p14:creationId xmlns:p14="http://schemas.microsoft.com/office/powerpoint/2010/main" val="1133691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a:xfrm>
            <a:off x="223664" y="107571"/>
            <a:ext cx="8686800" cy="1143000"/>
          </a:xfrm>
        </p:spPr>
        <p:txBody>
          <a:bodyPr/>
          <a:lstStyle/>
          <a:p>
            <a:pPr eaLnBrk="1" hangingPunct="1"/>
            <a:r>
              <a:rPr lang="en-US" altLang="x-none" sz="3800" b="1" dirty="0">
                <a:latin typeface="Gill Sans MT" charset="0"/>
                <a:ea typeface="ＭＳ Ｐゴシック" charset="-128"/>
              </a:rPr>
              <a:t>Beethoven</a:t>
            </a:r>
            <a:r>
              <a:rPr lang="en-GB" altLang="en-US" sz="3800" b="1" dirty="0">
                <a:latin typeface="Gill Sans MT" charset="0"/>
                <a:ea typeface="ＭＳ Ｐゴシック" charset="-128"/>
              </a:rPr>
              <a:t>’</a:t>
            </a:r>
            <a:r>
              <a:rPr lang="en-US" altLang="ja-JP" sz="3800" b="1" dirty="0">
                <a:latin typeface="Gill Sans MT" charset="0"/>
                <a:ea typeface="ＭＳ Ｐゴシック" charset="-128"/>
              </a:rPr>
              <a:t>s symphonic achievements</a:t>
            </a:r>
            <a:endParaRPr lang="en-US" altLang="x-none" sz="3800" b="1" dirty="0">
              <a:latin typeface="Gill Sans MT" charset="0"/>
              <a:ea typeface="ＭＳ Ｐゴシック" charset="-128"/>
            </a:endParaRPr>
          </a:p>
        </p:txBody>
      </p:sp>
      <p:sp>
        <p:nvSpPr>
          <p:cNvPr id="23555" name="Vertical Text Placeholder 2"/>
          <p:cNvSpPr>
            <a:spLocks noGrp="1"/>
          </p:cNvSpPr>
          <p:nvPr>
            <p:ph type="body" orient="vert" idx="1"/>
          </p:nvPr>
        </p:nvSpPr>
        <p:spPr>
          <a:xfrm>
            <a:off x="452264" y="1250571"/>
            <a:ext cx="8229600" cy="5029200"/>
          </a:xfrm>
        </p:spPr>
        <p:txBody>
          <a:bodyPr vert="horz"/>
          <a:lstStyle/>
          <a:p>
            <a:pPr eaLnBrk="1" hangingPunct="1"/>
            <a:r>
              <a:rPr lang="en-US" altLang="x-none" sz="2400" dirty="0">
                <a:latin typeface="Gill Sans MT" charset="0"/>
                <a:ea typeface="ＭＳ Ｐゴシック" charset="-128"/>
              </a:rPr>
              <a:t>For many nineteenth century observers he redefined what a symphony should/could be and massively increased its prestige and potential</a:t>
            </a:r>
          </a:p>
          <a:p>
            <a:pPr eaLnBrk="1" hangingPunct="1"/>
            <a:endParaRPr lang="en-US" altLang="x-none" sz="2400" dirty="0">
              <a:latin typeface="Gill Sans MT" charset="0"/>
              <a:ea typeface="ＭＳ Ｐゴシック" charset="-128"/>
            </a:endParaRPr>
          </a:p>
          <a:p>
            <a:pPr eaLnBrk="1" hangingPunct="1"/>
            <a:r>
              <a:rPr lang="en-US" altLang="x-none" sz="2400" dirty="0" err="1">
                <a:latin typeface="Gill Sans MT" charset="0"/>
                <a:ea typeface="ＭＳ Ｐゴシック" charset="-128"/>
              </a:rPr>
              <a:t>Emphasised</a:t>
            </a:r>
            <a:r>
              <a:rPr lang="en-US" altLang="x-none" sz="2400" dirty="0">
                <a:latin typeface="Gill Sans MT" charset="0"/>
                <a:ea typeface="ＭＳ Ｐゴシック" charset="-128"/>
              </a:rPr>
              <a:t> the idea of the symphony being a </a:t>
            </a:r>
            <a:r>
              <a:rPr lang="en-GB" altLang="en-US" sz="2400" dirty="0">
                <a:latin typeface="Gill Sans MT" charset="0"/>
                <a:ea typeface="ＭＳ Ｐゴシック" charset="-128"/>
              </a:rPr>
              <a:t>‘</a:t>
            </a:r>
            <a:r>
              <a:rPr lang="en-US" altLang="ja-JP" sz="2400" dirty="0">
                <a:latin typeface="Gill Sans MT" charset="0"/>
                <a:ea typeface="ＭＳ Ｐゴシック" charset="-128"/>
              </a:rPr>
              <a:t>journey</a:t>
            </a:r>
            <a:r>
              <a:rPr lang="en-GB" altLang="en-US" sz="2400" dirty="0">
                <a:latin typeface="Gill Sans MT" charset="0"/>
                <a:ea typeface="ＭＳ Ｐゴシック" charset="-128"/>
              </a:rPr>
              <a:t>’ or narrative</a:t>
            </a:r>
            <a:r>
              <a:rPr lang="en-US" altLang="ja-JP" sz="2400" dirty="0">
                <a:latin typeface="Gill Sans MT" charset="0"/>
                <a:ea typeface="ＭＳ Ｐゴシック" charset="-128"/>
              </a:rPr>
              <a:t>, typically ‘from darkness to light</a:t>
            </a:r>
            <a:r>
              <a:rPr lang="en-GB" altLang="en-US" sz="2400" dirty="0">
                <a:latin typeface="Gill Sans MT" charset="0"/>
                <a:ea typeface="ＭＳ Ｐゴシック" charset="-128"/>
              </a:rPr>
              <a:t>’, and potentially presenting a heroic subject</a:t>
            </a:r>
          </a:p>
          <a:p>
            <a:pPr eaLnBrk="1" hangingPunct="1"/>
            <a:endParaRPr lang="en-US" altLang="ja-JP" sz="2400" dirty="0">
              <a:latin typeface="Gill Sans MT" charset="0"/>
              <a:ea typeface="ＭＳ Ｐゴシック" charset="-128"/>
            </a:endParaRPr>
          </a:p>
          <a:p>
            <a:pPr eaLnBrk="1" hangingPunct="1"/>
            <a:r>
              <a:rPr lang="en-US" altLang="x-none" sz="2400" dirty="0">
                <a:latin typeface="Gill Sans MT" charset="0"/>
                <a:ea typeface="ＭＳ Ｐゴシック" charset="-128"/>
              </a:rPr>
              <a:t>Expanded the idea and possibilities of </a:t>
            </a:r>
            <a:r>
              <a:rPr lang="en-GB" altLang="en-US" sz="2400" dirty="0">
                <a:latin typeface="Gill Sans MT" charset="0"/>
                <a:ea typeface="ＭＳ Ｐゴシック" charset="-128"/>
              </a:rPr>
              <a:t>‘</a:t>
            </a:r>
            <a:r>
              <a:rPr lang="en-US" altLang="ja-JP" sz="2400" dirty="0">
                <a:latin typeface="Gill Sans MT" charset="0"/>
                <a:ea typeface="ＭＳ Ｐゴシック" charset="-128"/>
              </a:rPr>
              <a:t>organic</a:t>
            </a:r>
            <a:r>
              <a:rPr lang="en-GB" altLang="en-US" sz="2400" dirty="0">
                <a:latin typeface="Gill Sans MT" charset="0"/>
                <a:ea typeface="ＭＳ Ｐゴシック" charset="-128"/>
              </a:rPr>
              <a:t>’</a:t>
            </a:r>
            <a:r>
              <a:rPr lang="en-US" altLang="ja-JP" sz="2400" dirty="0">
                <a:latin typeface="Gill Sans MT" charset="0"/>
                <a:ea typeface="ＭＳ Ｐゴシック" charset="-128"/>
              </a:rPr>
              <a:t> development</a:t>
            </a:r>
          </a:p>
          <a:p>
            <a:pPr eaLnBrk="1" hangingPunct="1"/>
            <a:endParaRPr lang="en-US" altLang="x-none" sz="2400" dirty="0">
              <a:latin typeface="Gill Sans MT" charset="0"/>
              <a:ea typeface="ＭＳ Ｐゴシック" charset="-128"/>
            </a:endParaRPr>
          </a:p>
          <a:p>
            <a:pPr eaLnBrk="1" hangingPunct="1"/>
            <a:r>
              <a:rPr lang="en-US" altLang="x-none" sz="2400" dirty="0">
                <a:latin typeface="Gill Sans MT" charset="0"/>
                <a:ea typeface="ＭＳ Ｐゴシック" charset="-128"/>
              </a:rPr>
              <a:t>Interplay of ‘Motif’ and ‘Motive’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a:xfrm>
            <a:off x="504664" y="2420888"/>
            <a:ext cx="8134672" cy="1470025"/>
          </a:xfrm>
        </p:spPr>
        <p:txBody>
          <a:bodyPr/>
          <a:lstStyle/>
          <a:p>
            <a:pPr eaLnBrk="1" hangingPunct="1"/>
            <a:r>
              <a:rPr lang="en-US" altLang="x-none" sz="4000" dirty="0">
                <a:latin typeface="Gill Sans MT" charset="0"/>
                <a:ea typeface="ＭＳ Ｐゴシック" charset="-128"/>
              </a:rPr>
              <a:t>1. Symphonic Prestige</a:t>
            </a:r>
            <a:br>
              <a:rPr lang="en-GB" altLang="x-none" sz="4000" dirty="0">
                <a:latin typeface="Gill Sans MT" charset="0"/>
                <a:ea typeface="ＭＳ Ｐゴシック" charset="-128"/>
              </a:rPr>
            </a:br>
            <a:br>
              <a:rPr lang="en-GB" altLang="x-none" sz="4000" dirty="0">
                <a:latin typeface="Gill Sans MT" charset="0"/>
                <a:ea typeface="ＭＳ Ｐゴシック" charset="-128"/>
              </a:rPr>
            </a:br>
            <a:r>
              <a:rPr lang="en-GB" altLang="x-none" sz="4000" dirty="0">
                <a:latin typeface="Gill Sans MT" charset="0"/>
                <a:ea typeface="ＭＳ Ｐゴシック" charset="-128"/>
              </a:rPr>
              <a:t>2. Beethoven’s ‘Heroic’…</a:t>
            </a:r>
            <a:br>
              <a:rPr lang="en-GB" altLang="x-none" sz="4000" b="1" dirty="0">
                <a:latin typeface="Gill Sans MT" charset="0"/>
                <a:ea typeface="ＭＳ Ｐゴシック" charset="-128"/>
              </a:rPr>
            </a:br>
            <a:br>
              <a:rPr lang="en-GB" altLang="x-none" sz="4000" dirty="0">
                <a:latin typeface="Gill Sans MT" charset="0"/>
                <a:ea typeface="ＭＳ Ｐゴシック" charset="-128"/>
              </a:rPr>
            </a:br>
            <a:r>
              <a:rPr lang="en-GB" altLang="x-none" sz="4000" b="1" dirty="0">
                <a:latin typeface="Gill Sans MT" charset="0"/>
                <a:ea typeface="ＭＳ Ｐゴシック" charset="-128"/>
              </a:rPr>
              <a:t>3. … and the ‘Symphony Concert’</a:t>
            </a:r>
            <a:br>
              <a:rPr lang="en-GB" altLang="x-none" sz="4000" b="1" dirty="0">
                <a:latin typeface="Gill Sans MT" charset="0"/>
                <a:ea typeface="ＭＳ Ｐゴシック" charset="-128"/>
              </a:rPr>
            </a:br>
            <a:br>
              <a:rPr lang="en-GB" altLang="x-none" sz="4000" b="1" dirty="0">
                <a:latin typeface="Gill Sans MT" charset="0"/>
                <a:ea typeface="ＭＳ Ｐゴシック" charset="-128"/>
              </a:rPr>
            </a:br>
            <a:r>
              <a:rPr lang="en-GB" altLang="x-none" sz="4000" dirty="0">
                <a:latin typeface="Gill Sans MT" charset="0"/>
                <a:ea typeface="ＭＳ Ｐゴシック" charset="-128"/>
              </a:rPr>
              <a:t>4. Mahler and the ‘Chain of Being’</a:t>
            </a:r>
            <a:endParaRPr lang="en-US" altLang="x-none" sz="4000" dirty="0">
              <a:latin typeface="Gill Sans MT" charset="0"/>
              <a:ea typeface="ＭＳ Ｐゴシック" charset="-128"/>
            </a:endParaRPr>
          </a:p>
        </p:txBody>
      </p:sp>
    </p:spTree>
    <p:extLst>
      <p:ext uri="{BB962C8B-B14F-4D97-AF65-F5344CB8AC3E}">
        <p14:creationId xmlns:p14="http://schemas.microsoft.com/office/powerpoint/2010/main" val="2854880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r>
              <a:rPr lang="en-US" altLang="x-none" sz="4000" b="1" dirty="0">
                <a:latin typeface="Gill Sans MT" charset="0"/>
                <a:ea typeface="ＭＳ Ｐゴシック" charset="-128"/>
              </a:rPr>
              <a:t>The ‘Symphony Concert’</a:t>
            </a:r>
          </a:p>
        </p:txBody>
      </p:sp>
      <p:sp>
        <p:nvSpPr>
          <p:cNvPr id="24579" name="Vertical Text Placeholder 2"/>
          <p:cNvSpPr>
            <a:spLocks noGrp="1"/>
          </p:cNvSpPr>
          <p:nvPr>
            <p:ph type="body" orient="vert" idx="1"/>
          </p:nvPr>
        </p:nvSpPr>
        <p:spPr>
          <a:xfrm>
            <a:off x="323528" y="1385116"/>
            <a:ext cx="7571184" cy="532656"/>
          </a:xfrm>
        </p:spPr>
        <p:txBody>
          <a:bodyPr vert="horz"/>
          <a:lstStyle/>
          <a:p>
            <a:pPr eaLnBrk="1" hangingPunct="1"/>
            <a:r>
              <a:rPr lang="en-US" altLang="x-none" sz="2200" dirty="0">
                <a:latin typeface="Gill Sans MT" charset="0"/>
                <a:ea typeface="ＭＳ Ｐゴシック" charset="-128"/>
              </a:rPr>
              <a:t>Formulated in first half of the nineteenth century</a:t>
            </a:r>
          </a:p>
          <a:p>
            <a:pPr marL="0" indent="0" eaLnBrk="1" hangingPunct="1">
              <a:buNone/>
            </a:pPr>
            <a:endParaRPr lang="en-US" altLang="x-none" sz="2200" dirty="0">
              <a:latin typeface="Gill Sans MT" charset="0"/>
              <a:ea typeface="ＭＳ Ｐゴシック" charset="-128"/>
            </a:endParaRPr>
          </a:p>
          <a:p>
            <a:pPr marL="457200" indent="-457200" eaLnBrk="1" hangingPunct="1">
              <a:buAutoNum type="alphaLcParenBoth"/>
            </a:pPr>
            <a:endParaRPr lang="en-US" altLang="x-none" sz="2200" dirty="0">
              <a:latin typeface="Gill Sans MT" charset="0"/>
              <a:ea typeface="ＭＳ Ｐゴシック" charset="-128"/>
            </a:endParaRPr>
          </a:p>
          <a:p>
            <a:pPr marL="0" indent="0" eaLnBrk="1" hangingPunct="1">
              <a:buNone/>
            </a:pPr>
            <a:endParaRPr lang="en-US" altLang="x-none" sz="2200" dirty="0">
              <a:latin typeface="Gill Sans MT" charset="0"/>
              <a:ea typeface="ＭＳ Ｐゴシック" charset="-128"/>
            </a:endParaRPr>
          </a:p>
          <a:p>
            <a:pPr marL="0" indent="0" eaLnBrk="1" hangingPunct="1">
              <a:buNone/>
            </a:pPr>
            <a:endParaRPr lang="en-US" altLang="x-none" sz="2200" dirty="0">
              <a:latin typeface="Gill Sans MT" charset="0"/>
              <a:ea typeface="ＭＳ Ｐゴシック" charset="-128"/>
            </a:endParaRPr>
          </a:p>
          <a:p>
            <a:pPr eaLnBrk="1" hangingPunct="1"/>
            <a:endParaRPr lang="en-US" altLang="x-none" sz="2000" dirty="0">
              <a:latin typeface="Gill Sans MT" charset="0"/>
              <a:ea typeface="ＭＳ Ｐゴシック" charset="-128"/>
            </a:endParaRPr>
          </a:p>
        </p:txBody>
      </p:sp>
      <p:sp>
        <p:nvSpPr>
          <p:cNvPr id="2" name="Vertical Text Placeholder 2">
            <a:extLst>
              <a:ext uri="{FF2B5EF4-FFF2-40B4-BE49-F238E27FC236}">
                <a16:creationId xmlns:a16="http://schemas.microsoft.com/office/drawing/2014/main" id="{A0DCC8E2-59B3-3D53-FD78-BF1BCBDFD502}"/>
              </a:ext>
            </a:extLst>
          </p:cNvPr>
          <p:cNvSpPr txBox="1">
            <a:spLocks/>
          </p:cNvSpPr>
          <p:nvPr/>
        </p:nvSpPr>
        <p:spPr bwMode="auto">
          <a:xfrm>
            <a:off x="314265" y="2132856"/>
            <a:ext cx="7571184" cy="532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x-none" sz="2200" dirty="0">
                <a:latin typeface="Gill Sans MT" charset="0"/>
                <a:ea typeface="ＭＳ Ｐゴシック" charset="-128"/>
              </a:rPr>
              <a:t>Heartland of bourgeois musical culture: open to all (for a price), in a dedicated concert hall by a specialist orchestra, reviewed in the press</a:t>
            </a:r>
          </a:p>
          <a:p>
            <a:pPr marL="0" indent="0" eaLnBrk="1" hangingPunct="1">
              <a:buFont typeface="Arial" charset="0"/>
              <a:buNone/>
            </a:pPr>
            <a:endParaRPr lang="en-US" altLang="x-none" sz="2200" dirty="0">
              <a:latin typeface="Gill Sans MT" charset="0"/>
              <a:ea typeface="ＭＳ Ｐゴシック" charset="-128"/>
            </a:endParaRPr>
          </a:p>
          <a:p>
            <a:pPr marL="457200" indent="-457200" eaLnBrk="1" hangingPunct="1">
              <a:buFont typeface="Arial" charset="0"/>
              <a:buAutoNum type="alphaLcParenBoth"/>
            </a:pPr>
            <a:endParaRPr lang="en-US" altLang="x-none" sz="2200" dirty="0">
              <a:latin typeface="Gill Sans MT" charset="0"/>
              <a:ea typeface="ＭＳ Ｐゴシック" charset="-128"/>
            </a:endParaRPr>
          </a:p>
          <a:p>
            <a:pPr marL="0" indent="0" eaLnBrk="1" hangingPunct="1">
              <a:buFont typeface="Arial" charset="0"/>
              <a:buNone/>
            </a:pPr>
            <a:endParaRPr lang="en-US" altLang="x-none" sz="2200" dirty="0">
              <a:latin typeface="Gill Sans MT" charset="0"/>
              <a:ea typeface="ＭＳ Ｐゴシック" charset="-128"/>
            </a:endParaRPr>
          </a:p>
          <a:p>
            <a:pPr marL="0" indent="0" eaLnBrk="1" hangingPunct="1">
              <a:buFont typeface="Arial" charset="0"/>
              <a:buNone/>
            </a:pPr>
            <a:endParaRPr lang="en-US" altLang="x-none" sz="2200" dirty="0">
              <a:latin typeface="Gill Sans MT" charset="0"/>
              <a:ea typeface="ＭＳ Ｐゴシック" charset="-128"/>
            </a:endParaRPr>
          </a:p>
          <a:p>
            <a:pPr eaLnBrk="1" hangingPunct="1"/>
            <a:endParaRPr lang="en-US" altLang="x-none" sz="2000" dirty="0">
              <a:latin typeface="Gill Sans MT" charset="0"/>
              <a:ea typeface="ＭＳ Ｐゴシック" charset="-128"/>
            </a:endParaRPr>
          </a:p>
        </p:txBody>
      </p:sp>
      <p:sp>
        <p:nvSpPr>
          <p:cNvPr id="3" name="Vertical Text Placeholder 2">
            <a:extLst>
              <a:ext uri="{FF2B5EF4-FFF2-40B4-BE49-F238E27FC236}">
                <a16:creationId xmlns:a16="http://schemas.microsoft.com/office/drawing/2014/main" id="{DE1D13AE-34AA-0364-EDD3-A14DB8607F75}"/>
              </a:ext>
            </a:extLst>
          </p:cNvPr>
          <p:cNvSpPr txBox="1">
            <a:spLocks/>
          </p:cNvSpPr>
          <p:nvPr/>
        </p:nvSpPr>
        <p:spPr bwMode="auto">
          <a:xfrm>
            <a:off x="314265" y="3429000"/>
            <a:ext cx="7571184" cy="532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x-none" sz="2200" dirty="0">
                <a:latin typeface="Gill Sans MT" charset="0"/>
                <a:ea typeface="ＭＳ Ｐゴシック" charset="-128"/>
              </a:rPr>
              <a:t>Domain of the </a:t>
            </a:r>
            <a:r>
              <a:rPr lang="en-US" altLang="x-none" sz="2200" i="1" dirty="0" err="1">
                <a:latin typeface="Gill Sans MT" charset="0"/>
                <a:ea typeface="ＭＳ Ｐゴシック" charset="-128"/>
              </a:rPr>
              <a:t>Bildungsbürgertum</a:t>
            </a:r>
            <a:r>
              <a:rPr lang="en-US" altLang="x-none" sz="2200" i="1" dirty="0">
                <a:latin typeface="Gill Sans MT" charset="0"/>
                <a:ea typeface="ＭＳ Ｐゴシック" charset="-128"/>
              </a:rPr>
              <a:t> </a:t>
            </a:r>
            <a:r>
              <a:rPr lang="en-US" altLang="x-none" sz="2200" dirty="0">
                <a:latin typeface="Gill Sans MT" charset="0"/>
                <a:ea typeface="ＭＳ Ｐゴシック" charset="-128"/>
              </a:rPr>
              <a:t>(‘educated middle classes’) who value and demand education, edification, autonomy and integrity (just as they do of their literature)</a:t>
            </a:r>
          </a:p>
          <a:p>
            <a:pPr eaLnBrk="1" hangingPunct="1"/>
            <a:endParaRPr lang="en-US" altLang="x-none" sz="2200" dirty="0">
              <a:latin typeface="Gill Sans MT" charset="0"/>
              <a:ea typeface="ＭＳ Ｐゴシック" charset="-128"/>
            </a:endParaRPr>
          </a:p>
          <a:p>
            <a:pPr marL="0" indent="0" eaLnBrk="1" hangingPunct="1">
              <a:buFont typeface="Arial" charset="0"/>
              <a:buNone/>
            </a:pPr>
            <a:endParaRPr lang="en-US" altLang="x-none" sz="2200" dirty="0">
              <a:latin typeface="Gill Sans MT" charset="0"/>
              <a:ea typeface="ＭＳ Ｐゴシック" charset="-128"/>
            </a:endParaRPr>
          </a:p>
          <a:p>
            <a:pPr marL="0" indent="0" eaLnBrk="1" hangingPunct="1">
              <a:buNone/>
            </a:pPr>
            <a:endParaRPr lang="en-US" altLang="x-none" sz="2200" dirty="0">
              <a:latin typeface="Gill Sans MT" charset="0"/>
              <a:ea typeface="ＭＳ Ｐゴシック" charset="-128"/>
            </a:endParaRPr>
          </a:p>
          <a:p>
            <a:pPr marL="0" indent="0" eaLnBrk="1" hangingPunct="1">
              <a:buFont typeface="Arial" charset="0"/>
              <a:buNone/>
            </a:pPr>
            <a:endParaRPr lang="en-US" altLang="x-none" sz="2200" dirty="0">
              <a:latin typeface="Gill Sans MT" charset="0"/>
              <a:ea typeface="ＭＳ Ｐゴシック" charset="-128"/>
            </a:endParaRPr>
          </a:p>
          <a:p>
            <a:pPr marL="0" indent="0" eaLnBrk="1" hangingPunct="1">
              <a:buFont typeface="Arial" charset="0"/>
              <a:buNone/>
            </a:pPr>
            <a:endParaRPr lang="en-US" altLang="x-none" sz="2200" dirty="0">
              <a:latin typeface="Gill Sans MT" charset="0"/>
              <a:ea typeface="ＭＳ Ｐゴシック" charset="-128"/>
            </a:endParaRPr>
          </a:p>
          <a:p>
            <a:pPr eaLnBrk="1" hangingPunct="1"/>
            <a:endParaRPr lang="en-US" altLang="x-none" sz="2000" dirty="0">
              <a:latin typeface="Gill Sans MT" charset="0"/>
              <a:ea typeface="ＭＳ Ｐゴシック" charset="-128"/>
            </a:endParaRPr>
          </a:p>
        </p:txBody>
      </p:sp>
      <p:sp>
        <p:nvSpPr>
          <p:cNvPr id="4" name="TextBox 3">
            <a:extLst>
              <a:ext uri="{FF2B5EF4-FFF2-40B4-BE49-F238E27FC236}">
                <a16:creationId xmlns:a16="http://schemas.microsoft.com/office/drawing/2014/main" id="{B0CC7061-A0B1-7437-E248-4E03596A82DE}"/>
              </a:ext>
            </a:extLst>
          </p:cNvPr>
          <p:cNvSpPr txBox="1"/>
          <p:nvPr/>
        </p:nvSpPr>
        <p:spPr>
          <a:xfrm>
            <a:off x="323528" y="4799459"/>
            <a:ext cx="7786127" cy="430887"/>
          </a:xfrm>
          <a:prstGeom prst="rect">
            <a:avLst/>
          </a:prstGeom>
          <a:noFill/>
        </p:spPr>
        <p:txBody>
          <a:bodyPr wrap="square" rtlCol="0">
            <a:spAutoFit/>
          </a:bodyPr>
          <a:lstStyle/>
          <a:p>
            <a:pPr marL="342900" indent="-342900" eaLnBrk="1" hangingPunct="1">
              <a:buFont typeface="Arial" panose="020B0604020202020204" pitchFamily="34" charset="0"/>
              <a:buChar char="•"/>
            </a:pPr>
            <a:r>
              <a:rPr lang="en-US" altLang="x-none" sz="2200" dirty="0">
                <a:latin typeface="Gill Sans MT" charset="0"/>
                <a:ea typeface="ＭＳ Ｐゴシック" charset="-128"/>
              </a:rPr>
              <a:t>Cf typical concert </a:t>
            </a:r>
            <a:r>
              <a:rPr lang="en-US" altLang="x-none" sz="2200" dirty="0" err="1">
                <a:latin typeface="Gill Sans MT" charset="0"/>
                <a:ea typeface="ＭＳ Ｐゴシック" charset="-128"/>
              </a:rPr>
              <a:t>behaviour</a:t>
            </a:r>
            <a:r>
              <a:rPr lang="en-US" altLang="x-none" sz="2200" dirty="0">
                <a:latin typeface="Gill Sans MT" charset="0"/>
                <a:ea typeface="ＭＳ Ｐゴシック" charset="-128"/>
              </a:rPr>
              <a:t> (still </a:t>
            </a:r>
            <a:r>
              <a:rPr lang="en-US" altLang="x-none" sz="2200" dirty="0" err="1">
                <a:latin typeface="Gill Sans MT" charset="0"/>
                <a:ea typeface="ＭＳ Ｐゴシック" charset="-128"/>
              </a:rPr>
              <a:t>practised</a:t>
            </a:r>
            <a:r>
              <a:rPr lang="en-US" altLang="x-none" sz="2200" dirty="0">
                <a:latin typeface="Gill Sans MT" charset="0"/>
                <a:ea typeface="ＭＳ Ｐゴシック" charset="-128"/>
              </a:rPr>
              <a:t> in the present!)</a:t>
            </a:r>
          </a:p>
        </p:txBody>
      </p:sp>
      <p:sp>
        <p:nvSpPr>
          <p:cNvPr id="5" name="TextBox 4">
            <a:extLst>
              <a:ext uri="{FF2B5EF4-FFF2-40B4-BE49-F238E27FC236}">
                <a16:creationId xmlns:a16="http://schemas.microsoft.com/office/drawing/2014/main" id="{B4C319F8-C9DC-0B25-6719-FBC46002E7EB}"/>
              </a:ext>
            </a:extLst>
          </p:cNvPr>
          <p:cNvSpPr txBox="1"/>
          <p:nvPr/>
        </p:nvSpPr>
        <p:spPr>
          <a:xfrm>
            <a:off x="323528" y="5616446"/>
            <a:ext cx="7786127" cy="430887"/>
          </a:xfrm>
          <a:prstGeom prst="rect">
            <a:avLst/>
          </a:prstGeom>
          <a:noFill/>
        </p:spPr>
        <p:txBody>
          <a:bodyPr wrap="square" rtlCol="0">
            <a:spAutoFit/>
          </a:bodyPr>
          <a:lstStyle/>
          <a:p>
            <a:pPr marL="342900" indent="-342900" eaLnBrk="1" hangingPunct="1">
              <a:buFont typeface="Arial" panose="020B0604020202020204" pitchFamily="34" charset="0"/>
              <a:buChar char="•"/>
            </a:pPr>
            <a:r>
              <a:rPr lang="en-US" altLang="x-none" sz="2200" dirty="0">
                <a:latin typeface="Gill Sans MT" charset="0"/>
                <a:ea typeface="ＭＳ Ｐゴシック" charset="-128"/>
              </a:rPr>
              <a:t>Typical format: overture, concerto, grand symphony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B2D68F4-EE40-324C-86FE-55E3391E925C}"/>
              </a:ext>
            </a:extLst>
          </p:cNvPr>
          <p:cNvSpPr txBox="1"/>
          <p:nvPr/>
        </p:nvSpPr>
        <p:spPr>
          <a:xfrm>
            <a:off x="403230" y="195893"/>
            <a:ext cx="8337539" cy="584775"/>
          </a:xfrm>
          <a:prstGeom prst="rect">
            <a:avLst/>
          </a:prstGeom>
          <a:noFill/>
        </p:spPr>
        <p:txBody>
          <a:bodyPr wrap="none" rtlCol="0">
            <a:spAutoFit/>
          </a:bodyPr>
          <a:lstStyle/>
          <a:p>
            <a:r>
              <a:rPr lang="en-US" sz="3200" b="1" dirty="0">
                <a:latin typeface="Gill Sans MT" panose="020B0502020104020203" pitchFamily="34" charset="77"/>
              </a:rPr>
              <a:t>Leipzig as home of the Symphony Concert</a:t>
            </a:r>
          </a:p>
        </p:txBody>
      </p:sp>
      <p:sp>
        <p:nvSpPr>
          <p:cNvPr id="4" name="TextBox 3">
            <a:extLst>
              <a:ext uri="{FF2B5EF4-FFF2-40B4-BE49-F238E27FC236}">
                <a16:creationId xmlns:a16="http://schemas.microsoft.com/office/drawing/2014/main" id="{74DC4360-4B1E-784B-B821-0B73E9C120CF}"/>
              </a:ext>
            </a:extLst>
          </p:cNvPr>
          <p:cNvSpPr txBox="1"/>
          <p:nvPr/>
        </p:nvSpPr>
        <p:spPr>
          <a:xfrm>
            <a:off x="179511" y="1836630"/>
            <a:ext cx="4889481" cy="2215991"/>
          </a:xfrm>
          <a:prstGeom prst="rect">
            <a:avLst/>
          </a:prstGeom>
          <a:noFill/>
        </p:spPr>
        <p:txBody>
          <a:bodyPr wrap="square" rtlCol="0">
            <a:spAutoFit/>
          </a:bodyPr>
          <a:lstStyle/>
          <a:p>
            <a:pPr marL="342900" indent="-342900">
              <a:buFont typeface="Arial" panose="020B0604020202020204" pitchFamily="34" charset="0"/>
              <a:buChar char="•"/>
            </a:pPr>
            <a:endParaRPr lang="en-US" u="sng" dirty="0">
              <a:latin typeface="Gill Sans MT" panose="020B0502020104020203" pitchFamily="34" charset="77"/>
            </a:endParaRPr>
          </a:p>
          <a:p>
            <a:pPr marL="285750" indent="-285750">
              <a:buFont typeface="Arial" panose="020B0604020202020204" pitchFamily="34" charset="0"/>
              <a:buChar char="•"/>
            </a:pPr>
            <a:r>
              <a:rPr lang="en-US" sz="2000" dirty="0">
                <a:latin typeface="Gill Sans MT" panose="020B0502020104020203" pitchFamily="34" charset="77"/>
              </a:rPr>
              <a:t>Gewandhaus orchestra (first heard in 1781 in the ‘Clothiers’ Hall’): establishes the ‘serious’ symphony concert model of overture, concerto, symphony (second half of concert to itself)</a:t>
            </a:r>
            <a:r>
              <a:rPr lang="en-GB" sz="2000" dirty="0">
                <a:latin typeface="Gill Sans MT" panose="020B0502020104020203" pitchFamily="34" charset="77"/>
              </a:rPr>
              <a:t>, consolidates canon of German instrumental music</a:t>
            </a:r>
            <a:endParaRPr lang="en-US" sz="2200" dirty="0">
              <a:latin typeface="Gill Sans MT" panose="020B0502020104020203" pitchFamily="34" charset="77"/>
            </a:endParaRPr>
          </a:p>
        </p:txBody>
      </p:sp>
      <p:pic>
        <p:nvPicPr>
          <p:cNvPr id="3" name="Picture 2" descr="A picture containing building, black, old&#10;&#10;Description automatically generated">
            <a:extLst>
              <a:ext uri="{FF2B5EF4-FFF2-40B4-BE49-F238E27FC236}">
                <a16:creationId xmlns:a16="http://schemas.microsoft.com/office/drawing/2014/main" id="{0E0908E8-6A7C-DE4A-A5A5-C0F41AA20516}"/>
              </a:ext>
            </a:extLst>
          </p:cNvPr>
          <p:cNvPicPr>
            <a:picLocks noChangeAspect="1"/>
          </p:cNvPicPr>
          <p:nvPr/>
        </p:nvPicPr>
        <p:blipFill>
          <a:blip r:embed="rId3"/>
          <a:stretch>
            <a:fillRect/>
          </a:stretch>
        </p:blipFill>
        <p:spPr>
          <a:xfrm flipH="1">
            <a:off x="5724128" y="3573016"/>
            <a:ext cx="2868543" cy="2868543"/>
          </a:xfrm>
          <a:prstGeom prst="rect">
            <a:avLst/>
          </a:prstGeom>
          <a:effectLst>
            <a:outerShdw blurRad="101600" dist="101600" dir="7800000" algn="ctr" rotWithShape="0">
              <a:srgbClr val="000000">
                <a:alpha val="52000"/>
              </a:srgbClr>
            </a:outerShdw>
          </a:effectLst>
        </p:spPr>
      </p:pic>
      <p:pic>
        <p:nvPicPr>
          <p:cNvPr id="2" name="Picture 1" descr="Map&#10;&#10;Description automatically generated">
            <a:extLst>
              <a:ext uri="{FF2B5EF4-FFF2-40B4-BE49-F238E27FC236}">
                <a16:creationId xmlns:a16="http://schemas.microsoft.com/office/drawing/2014/main" id="{6B514A8F-F3C0-7BBA-D410-D939669AD27C}"/>
              </a:ext>
            </a:extLst>
          </p:cNvPr>
          <p:cNvPicPr>
            <a:picLocks noChangeAspect="1"/>
          </p:cNvPicPr>
          <p:nvPr/>
        </p:nvPicPr>
        <p:blipFill>
          <a:blip r:embed="rId4"/>
          <a:stretch>
            <a:fillRect/>
          </a:stretch>
        </p:blipFill>
        <p:spPr>
          <a:xfrm>
            <a:off x="5411105" y="980728"/>
            <a:ext cx="3444209" cy="2192169"/>
          </a:xfrm>
          <a:prstGeom prst="rect">
            <a:avLst/>
          </a:prstGeom>
          <a:effectLst>
            <a:outerShdw blurRad="101600" dist="101600" dir="7200000" sx="102000" sy="102000" algn="ctr" rotWithShape="0">
              <a:srgbClr val="000000">
                <a:alpha val="58000"/>
              </a:srgbClr>
            </a:outerShdw>
          </a:effectLst>
        </p:spPr>
      </p:pic>
      <p:sp>
        <p:nvSpPr>
          <p:cNvPr id="5" name="TextBox 4">
            <a:extLst>
              <a:ext uri="{FF2B5EF4-FFF2-40B4-BE49-F238E27FC236}">
                <a16:creationId xmlns:a16="http://schemas.microsoft.com/office/drawing/2014/main" id="{3845E0E2-0C3C-6D16-0951-EC7218723372}"/>
              </a:ext>
            </a:extLst>
          </p:cNvPr>
          <p:cNvSpPr txBox="1"/>
          <p:nvPr/>
        </p:nvSpPr>
        <p:spPr>
          <a:xfrm>
            <a:off x="179512" y="743276"/>
            <a:ext cx="4889481" cy="1384995"/>
          </a:xfrm>
          <a:prstGeom prst="rect">
            <a:avLst/>
          </a:prstGeom>
          <a:noFill/>
        </p:spPr>
        <p:txBody>
          <a:bodyPr wrap="square" rtlCol="0">
            <a:spAutoFit/>
          </a:bodyPr>
          <a:lstStyle/>
          <a:p>
            <a:pPr marL="285750" indent="-285750">
              <a:buFont typeface="Arial" panose="020B0604020202020204" pitchFamily="34" charset="0"/>
              <a:buChar char="•"/>
            </a:pPr>
            <a:endParaRPr lang="en-US" sz="2200" dirty="0">
              <a:latin typeface="Gill Sans MT" panose="020B0502020104020203" pitchFamily="34" charset="77"/>
            </a:endParaRPr>
          </a:p>
          <a:p>
            <a:pPr marL="285750" indent="-285750">
              <a:buFont typeface="Arial" panose="020B0604020202020204" pitchFamily="34" charset="0"/>
              <a:buChar char="•"/>
            </a:pPr>
            <a:r>
              <a:rPr lang="en-US" sz="2000" dirty="0">
                <a:latin typeface="Gill Sans MT" panose="020B0502020104020203" pitchFamily="34" charset="77"/>
              </a:rPr>
              <a:t>Publishers, journals, conservatory, </a:t>
            </a:r>
            <a:r>
              <a:rPr lang="en-US" sz="2000" dirty="0" err="1">
                <a:latin typeface="Gill Sans MT" panose="020B0502020104020203" pitchFamily="34" charset="77"/>
              </a:rPr>
              <a:t>Thomaskirche</a:t>
            </a:r>
            <a:r>
              <a:rPr lang="en-US" sz="2000" dirty="0">
                <a:latin typeface="Gill Sans MT" panose="020B0502020104020203" pitchFamily="34" charset="77"/>
              </a:rPr>
              <a:t> (Bach legacy)…</a:t>
            </a:r>
          </a:p>
          <a:p>
            <a:pPr marL="285750" indent="-285750">
              <a:buFont typeface="Arial" panose="020B0604020202020204" pitchFamily="34" charset="0"/>
              <a:buChar char="•"/>
            </a:pPr>
            <a:endParaRPr lang="en-US" sz="2200" dirty="0">
              <a:latin typeface="Gill Sans MT" panose="020B0502020104020203" pitchFamily="34" charset="77"/>
            </a:endParaRPr>
          </a:p>
        </p:txBody>
      </p:sp>
      <p:sp>
        <p:nvSpPr>
          <p:cNvPr id="7" name="TextBox 6">
            <a:extLst>
              <a:ext uri="{FF2B5EF4-FFF2-40B4-BE49-F238E27FC236}">
                <a16:creationId xmlns:a16="http://schemas.microsoft.com/office/drawing/2014/main" id="{611732BA-AA37-0D55-EA93-8EBC3C71745A}"/>
              </a:ext>
            </a:extLst>
          </p:cNvPr>
          <p:cNvSpPr txBox="1"/>
          <p:nvPr/>
        </p:nvSpPr>
        <p:spPr>
          <a:xfrm>
            <a:off x="179512" y="4421235"/>
            <a:ext cx="4889481" cy="224676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Gill Sans MT" panose="020B0502020104020203" pitchFamily="34" charset="77"/>
              </a:rPr>
              <a:t>‘With a famous composer [Mendelssohn] at its head, the orchestra has brought its virtuosity to still greater perfection during the last few years. It has probably no German equal in its performance of symphonies’ (Schumann, </a:t>
            </a:r>
            <a:r>
              <a:rPr lang="en-US" sz="2000" i="1" dirty="0">
                <a:latin typeface="Gill Sans MT" panose="020B0502020104020203" pitchFamily="34" charset="77"/>
              </a:rPr>
              <a:t>Neue </a:t>
            </a:r>
            <a:r>
              <a:rPr lang="en-US" sz="2000" i="1" dirty="0" err="1">
                <a:latin typeface="Gill Sans MT" panose="020B0502020104020203" pitchFamily="34" charset="77"/>
              </a:rPr>
              <a:t>Zeitschrift</a:t>
            </a:r>
            <a:r>
              <a:rPr lang="en-US" sz="2000" dirty="0">
                <a:latin typeface="Gill Sans MT" panose="020B0502020104020203" pitchFamily="34" charset="77"/>
              </a:rPr>
              <a:t>, 1840)</a:t>
            </a:r>
            <a:endParaRPr lang="en-US" sz="2400" dirty="0">
              <a:latin typeface="Gill Sans MT" panose="020B0502020104020203" pitchFamily="34" charset="77"/>
            </a:endParaRPr>
          </a:p>
        </p:txBody>
      </p:sp>
    </p:spTree>
    <p:extLst>
      <p:ext uri="{BB962C8B-B14F-4D97-AF65-F5344CB8AC3E}">
        <p14:creationId xmlns:p14="http://schemas.microsoft.com/office/powerpoint/2010/main" val="1846660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a:xfrm>
            <a:off x="504664" y="2420888"/>
            <a:ext cx="8134672" cy="1470025"/>
          </a:xfrm>
        </p:spPr>
        <p:txBody>
          <a:bodyPr/>
          <a:lstStyle/>
          <a:p>
            <a:pPr eaLnBrk="1" hangingPunct="1"/>
            <a:r>
              <a:rPr lang="en-US" altLang="x-none" sz="4000" dirty="0">
                <a:latin typeface="Gill Sans MT" charset="0"/>
                <a:ea typeface="ＭＳ Ｐゴシック" charset="-128"/>
              </a:rPr>
              <a:t>1. Symphonic Prestige</a:t>
            </a:r>
            <a:br>
              <a:rPr lang="en-GB" altLang="x-none" sz="4000" dirty="0">
                <a:latin typeface="Gill Sans MT" charset="0"/>
                <a:ea typeface="ＭＳ Ｐゴシック" charset="-128"/>
              </a:rPr>
            </a:br>
            <a:br>
              <a:rPr lang="en-GB" altLang="x-none" sz="4000" dirty="0">
                <a:latin typeface="Gill Sans MT" charset="0"/>
                <a:ea typeface="ＭＳ Ｐゴシック" charset="-128"/>
              </a:rPr>
            </a:br>
            <a:r>
              <a:rPr lang="en-GB" altLang="x-none" sz="4000" dirty="0">
                <a:latin typeface="Gill Sans MT" charset="0"/>
                <a:ea typeface="ＭＳ Ｐゴシック" charset="-128"/>
              </a:rPr>
              <a:t>2. Beethoven’s ‘Heroic’…</a:t>
            </a:r>
            <a:br>
              <a:rPr lang="en-GB" altLang="x-none" sz="4000" b="1" dirty="0">
                <a:latin typeface="Gill Sans MT" charset="0"/>
                <a:ea typeface="ＭＳ Ｐゴシック" charset="-128"/>
              </a:rPr>
            </a:br>
            <a:br>
              <a:rPr lang="en-GB" altLang="x-none" sz="4000" dirty="0">
                <a:latin typeface="Gill Sans MT" charset="0"/>
                <a:ea typeface="ＭＳ Ｐゴシック" charset="-128"/>
              </a:rPr>
            </a:br>
            <a:r>
              <a:rPr lang="en-GB" altLang="x-none" sz="4000" dirty="0">
                <a:latin typeface="Gill Sans MT" charset="0"/>
                <a:ea typeface="ＭＳ Ｐゴシック" charset="-128"/>
              </a:rPr>
              <a:t>3. … and the ‘Symphony Concert’</a:t>
            </a:r>
            <a:br>
              <a:rPr lang="en-GB" altLang="x-none" sz="4000" dirty="0">
                <a:latin typeface="Gill Sans MT" charset="0"/>
                <a:ea typeface="ＭＳ Ｐゴシック" charset="-128"/>
              </a:rPr>
            </a:br>
            <a:br>
              <a:rPr lang="en-GB" altLang="x-none" sz="4000" dirty="0">
                <a:latin typeface="Gill Sans MT" charset="0"/>
                <a:ea typeface="ＭＳ Ｐゴシック" charset="-128"/>
              </a:rPr>
            </a:br>
            <a:r>
              <a:rPr lang="en-GB" altLang="x-none" sz="4000" b="1" dirty="0">
                <a:latin typeface="Gill Sans MT" charset="0"/>
                <a:ea typeface="ＭＳ Ｐゴシック" charset="-128"/>
              </a:rPr>
              <a:t>4. Mahler and the ‘Chain of Being’</a:t>
            </a:r>
            <a:endParaRPr lang="en-US" altLang="x-none" sz="4000" b="1" dirty="0">
              <a:latin typeface="Gill Sans MT" charset="0"/>
              <a:ea typeface="ＭＳ Ｐゴシック" charset="-128"/>
            </a:endParaRPr>
          </a:p>
        </p:txBody>
      </p:sp>
    </p:spTree>
    <p:extLst>
      <p:ext uri="{BB962C8B-B14F-4D97-AF65-F5344CB8AC3E}">
        <p14:creationId xmlns:p14="http://schemas.microsoft.com/office/powerpoint/2010/main" val="1340718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a:xfrm>
            <a:off x="457200" y="23018"/>
            <a:ext cx="8229600" cy="1143000"/>
          </a:xfrm>
        </p:spPr>
        <p:txBody>
          <a:bodyPr/>
          <a:lstStyle/>
          <a:p>
            <a:pPr eaLnBrk="1" hangingPunct="1"/>
            <a:r>
              <a:rPr lang="en-US" altLang="x-none" dirty="0">
                <a:latin typeface="Gill Sans MT" charset="0"/>
                <a:ea typeface="ＭＳ Ｐゴシック" charset="-128"/>
              </a:rPr>
              <a:t>Gustav Mahler (1860-1911)</a:t>
            </a:r>
          </a:p>
        </p:txBody>
      </p:sp>
      <p:sp>
        <p:nvSpPr>
          <p:cNvPr id="58371" name="Vertical Text Placeholder 2"/>
          <p:cNvSpPr>
            <a:spLocks noGrp="1"/>
          </p:cNvSpPr>
          <p:nvPr>
            <p:ph type="body" orient="vert" idx="1"/>
          </p:nvPr>
        </p:nvSpPr>
        <p:spPr>
          <a:xfrm>
            <a:off x="323528" y="1166019"/>
            <a:ext cx="4248472" cy="822822"/>
          </a:xfrm>
        </p:spPr>
        <p:txBody>
          <a:bodyPr vert="horz"/>
          <a:lstStyle/>
          <a:p>
            <a:pPr eaLnBrk="1" hangingPunct="1"/>
            <a:r>
              <a:rPr lang="en-US" altLang="x-none" sz="2400" dirty="0">
                <a:latin typeface="Gill Sans MT" charset="0"/>
                <a:ea typeface="ＭＳ Ｐゴシック" charset="-128"/>
              </a:rPr>
              <a:t>Representative of the ‘second age of the symphony’</a:t>
            </a:r>
          </a:p>
        </p:txBody>
      </p:sp>
      <p:pic>
        <p:nvPicPr>
          <p:cNvPr id="3" name="Picture 2">
            <a:extLst>
              <a:ext uri="{FF2B5EF4-FFF2-40B4-BE49-F238E27FC236}">
                <a16:creationId xmlns:a16="http://schemas.microsoft.com/office/drawing/2014/main" id="{8FB7EA40-763C-3944-BEC3-8F3802EB88EE}"/>
              </a:ext>
            </a:extLst>
          </p:cNvPr>
          <p:cNvPicPr>
            <a:picLocks noChangeAspect="1"/>
          </p:cNvPicPr>
          <p:nvPr/>
        </p:nvPicPr>
        <p:blipFill>
          <a:blip r:embed="rId2"/>
          <a:stretch>
            <a:fillRect/>
          </a:stretch>
        </p:blipFill>
        <p:spPr>
          <a:xfrm>
            <a:off x="4988868" y="1268760"/>
            <a:ext cx="3528392" cy="5173386"/>
          </a:xfrm>
          <a:prstGeom prst="rect">
            <a:avLst/>
          </a:prstGeom>
          <a:effectLst>
            <a:outerShdw blurRad="101600" dist="101600" dir="7800000" algn="ctr" rotWithShape="0">
              <a:srgbClr val="000000">
                <a:alpha val="45000"/>
              </a:srgbClr>
            </a:outerShdw>
          </a:effectLst>
        </p:spPr>
      </p:pic>
      <p:sp>
        <p:nvSpPr>
          <p:cNvPr id="2" name="Vertical Text Placeholder 2">
            <a:extLst>
              <a:ext uri="{FF2B5EF4-FFF2-40B4-BE49-F238E27FC236}">
                <a16:creationId xmlns:a16="http://schemas.microsoft.com/office/drawing/2014/main" id="{8F2B3738-DE3E-25C1-11D2-C512813CED8C}"/>
              </a:ext>
            </a:extLst>
          </p:cNvPr>
          <p:cNvSpPr txBox="1">
            <a:spLocks/>
          </p:cNvSpPr>
          <p:nvPr/>
        </p:nvSpPr>
        <p:spPr bwMode="auto">
          <a:xfrm>
            <a:off x="323528" y="2060848"/>
            <a:ext cx="4248472" cy="822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GB" altLang="x-none" sz="2400" dirty="0">
                <a:latin typeface="Gill Sans MT" charset="0"/>
                <a:ea typeface="ＭＳ Ｐゴシック" charset="-128"/>
              </a:rPr>
              <a:t>From </a:t>
            </a:r>
            <a:r>
              <a:rPr lang="en-GB" altLang="x-none" sz="2400" dirty="0" err="1">
                <a:latin typeface="Gill Sans MT" charset="0"/>
                <a:ea typeface="ＭＳ Ｐゴシック" charset="-128"/>
              </a:rPr>
              <a:t>Jihlava</a:t>
            </a:r>
            <a:r>
              <a:rPr lang="en-GB" altLang="x-none" sz="2400" dirty="0">
                <a:latin typeface="Gill Sans MT" charset="0"/>
                <a:ea typeface="ＭＳ Ｐゴシック" charset="-128"/>
              </a:rPr>
              <a:t> (Czech Republic) but strongly associated with Vienna</a:t>
            </a:r>
            <a:endParaRPr lang="en-US" altLang="ja-JP" sz="2400" dirty="0">
              <a:latin typeface="Gill Sans MT" charset="0"/>
              <a:ea typeface="ＭＳ Ｐゴシック" charset="-128"/>
            </a:endParaRPr>
          </a:p>
        </p:txBody>
      </p:sp>
      <p:sp>
        <p:nvSpPr>
          <p:cNvPr id="4" name="Vertical Text Placeholder 2">
            <a:extLst>
              <a:ext uri="{FF2B5EF4-FFF2-40B4-BE49-F238E27FC236}">
                <a16:creationId xmlns:a16="http://schemas.microsoft.com/office/drawing/2014/main" id="{65EB8310-915D-D749-1EF7-AD943BE05AF4}"/>
              </a:ext>
            </a:extLst>
          </p:cNvPr>
          <p:cNvSpPr txBox="1">
            <a:spLocks/>
          </p:cNvSpPr>
          <p:nvPr/>
        </p:nvSpPr>
        <p:spPr bwMode="auto">
          <a:xfrm>
            <a:off x="332276" y="3284984"/>
            <a:ext cx="4248472" cy="822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x-none" sz="2400" dirty="0">
                <a:latin typeface="Gill Sans MT" charset="0"/>
                <a:ea typeface="ＭＳ Ｐゴシック" charset="-128"/>
              </a:rPr>
              <a:t>Conductor and composer, renowned throughout Europe and the wider world</a:t>
            </a:r>
          </a:p>
        </p:txBody>
      </p:sp>
      <p:sp>
        <p:nvSpPr>
          <p:cNvPr id="5" name="Vertical Text Placeholder 2">
            <a:extLst>
              <a:ext uri="{FF2B5EF4-FFF2-40B4-BE49-F238E27FC236}">
                <a16:creationId xmlns:a16="http://schemas.microsoft.com/office/drawing/2014/main" id="{30C4F7C6-1EEB-B88A-E3FC-D65247EF3413}"/>
              </a:ext>
            </a:extLst>
          </p:cNvPr>
          <p:cNvSpPr txBox="1">
            <a:spLocks/>
          </p:cNvSpPr>
          <p:nvPr/>
        </p:nvSpPr>
        <p:spPr bwMode="auto">
          <a:xfrm>
            <a:off x="332276" y="4509120"/>
            <a:ext cx="4383740" cy="822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eaLnBrk="1" hangingPunct="1"/>
            <a:r>
              <a:rPr lang="en-US" altLang="x-none" sz="2400" dirty="0">
                <a:latin typeface="Gill Sans MT" charset="0"/>
                <a:ea typeface="ＭＳ Ｐゴシック" charset="-128"/>
              </a:rPr>
              <a:t>Compositional focus on the symphony (nine in total): challenges conceptual limits of symphony and symphony concert; idea of the symphonic ‘universe’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P spid="2" grpId="0"/>
      <p:bldP spid="4"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a:xfrm>
            <a:off x="457200" y="127130"/>
            <a:ext cx="8229600" cy="1143000"/>
          </a:xfrm>
        </p:spPr>
        <p:txBody>
          <a:bodyPr/>
          <a:lstStyle/>
          <a:p>
            <a:r>
              <a:rPr lang="en-US" altLang="x-none" dirty="0">
                <a:latin typeface="Gill Sans MT" charset="0"/>
                <a:ea typeface="ＭＳ Ｐゴシック" charset="-128"/>
              </a:rPr>
              <a:t>Symphony No. 3 (1896)</a:t>
            </a:r>
          </a:p>
        </p:txBody>
      </p:sp>
      <p:sp>
        <p:nvSpPr>
          <p:cNvPr id="3" name="Vertical Text Placeholder 2"/>
          <p:cNvSpPr>
            <a:spLocks noGrp="1"/>
          </p:cNvSpPr>
          <p:nvPr>
            <p:ph type="body" orient="vert" idx="1"/>
          </p:nvPr>
        </p:nvSpPr>
        <p:spPr>
          <a:xfrm>
            <a:off x="439688" y="1268761"/>
            <a:ext cx="8229600" cy="1008111"/>
          </a:xfrm>
        </p:spPr>
        <p:txBody>
          <a:bodyPr vert="horz"/>
          <a:lstStyle/>
          <a:p>
            <a:r>
              <a:rPr lang="en-US" altLang="en-US" sz="2400" dirty="0">
                <a:latin typeface="Gill Sans MT" charset="0"/>
                <a:ea typeface="ＭＳ Ｐゴシック" charset="-128"/>
              </a:rPr>
              <a:t>Framework for interpretation: Beethoven’s ‘d</a:t>
            </a:r>
            <a:r>
              <a:rPr lang="en-US" altLang="x-none" sz="2400" dirty="0">
                <a:latin typeface="Gill Sans MT" charset="0"/>
                <a:ea typeface="ＭＳ Ｐゴシック" charset="-128"/>
              </a:rPr>
              <a:t>arkness to light</a:t>
            </a:r>
            <a:r>
              <a:rPr lang="en-US" altLang="en-US" sz="2400" dirty="0">
                <a:latin typeface="Gill Sans MT" charset="0"/>
                <a:ea typeface="ＭＳ Ｐゴシック" charset="-128"/>
              </a:rPr>
              <a:t>’ trajectory… </a:t>
            </a:r>
            <a:r>
              <a:rPr lang="en-US" altLang="x-none" sz="2400" dirty="0">
                <a:latin typeface="Gill Sans MT" charset="0"/>
                <a:ea typeface="ＭＳ Ｐゴシック" charset="-128"/>
              </a:rPr>
              <a:t>but not of an individual ‘hero’…</a:t>
            </a:r>
            <a:endParaRPr lang="en-US" altLang="x-none" sz="2000" dirty="0">
              <a:latin typeface="Gill Sans MT" charset="0"/>
              <a:ea typeface="ＭＳ Ｐゴシック" charset="-128"/>
            </a:endParaRPr>
          </a:p>
        </p:txBody>
      </p:sp>
      <p:sp>
        <p:nvSpPr>
          <p:cNvPr id="2" name="Vertical Text Placeholder 2">
            <a:extLst>
              <a:ext uri="{FF2B5EF4-FFF2-40B4-BE49-F238E27FC236}">
                <a16:creationId xmlns:a16="http://schemas.microsoft.com/office/drawing/2014/main" id="{E92B4207-A8FB-55FC-8B8A-761C883E9D55}"/>
              </a:ext>
            </a:extLst>
          </p:cNvPr>
          <p:cNvSpPr txBox="1">
            <a:spLocks/>
          </p:cNvSpPr>
          <p:nvPr/>
        </p:nvSpPr>
        <p:spPr bwMode="auto">
          <a:xfrm>
            <a:off x="426186" y="2276871"/>
            <a:ext cx="8229600" cy="388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x-none" sz="2400" dirty="0">
                <a:latin typeface="Gill Sans MT" charset="0"/>
                <a:ea typeface="ＭＳ Ｐゴシック" charset="-128"/>
              </a:rPr>
              <a:t>Rather, a great ‘chain of being’:</a:t>
            </a:r>
          </a:p>
          <a:p>
            <a:pPr lvl="1"/>
            <a:r>
              <a:rPr lang="en-US" altLang="x-none" sz="2000" dirty="0">
                <a:latin typeface="Gill Sans MT" charset="0"/>
                <a:ea typeface="ＭＳ Ｐゴシック" charset="-128"/>
              </a:rPr>
              <a:t>I. Pan awakes – Summer marches in</a:t>
            </a:r>
          </a:p>
          <a:p>
            <a:pPr lvl="1"/>
            <a:r>
              <a:rPr lang="en-US" altLang="x-none" sz="2000" dirty="0">
                <a:latin typeface="Gill Sans MT" charset="0"/>
                <a:ea typeface="ＭＳ Ｐゴシック" charset="-128"/>
              </a:rPr>
              <a:t>2. What the Flowers in the Meadow Tell Me (Minuet)</a:t>
            </a:r>
          </a:p>
          <a:p>
            <a:pPr lvl="1"/>
            <a:r>
              <a:rPr lang="en-US" altLang="x-none" sz="2000" dirty="0">
                <a:latin typeface="Gill Sans MT" charset="0"/>
                <a:ea typeface="ＭＳ Ｐゴシック" charset="-128"/>
              </a:rPr>
              <a:t>3. What the Animals in the Forest Tell Me (Scherzo)</a:t>
            </a:r>
          </a:p>
          <a:p>
            <a:pPr lvl="1"/>
            <a:r>
              <a:rPr lang="en-US" altLang="x-none" sz="2000" dirty="0">
                <a:latin typeface="Gill Sans MT" charset="0"/>
                <a:ea typeface="ＭＳ Ｐゴシック" charset="-128"/>
              </a:rPr>
              <a:t>4. What Man Tells Me</a:t>
            </a:r>
          </a:p>
          <a:p>
            <a:pPr lvl="1"/>
            <a:r>
              <a:rPr lang="en-US" altLang="x-none" sz="2000" dirty="0">
                <a:latin typeface="Gill Sans MT" charset="0"/>
                <a:ea typeface="ＭＳ Ｐゴシック" charset="-128"/>
              </a:rPr>
              <a:t>5. What the Angels Tell Me</a:t>
            </a:r>
          </a:p>
          <a:p>
            <a:pPr lvl="1"/>
            <a:r>
              <a:rPr lang="en-US" altLang="x-none" sz="2000" dirty="0">
                <a:latin typeface="Gill Sans MT" charset="0"/>
                <a:ea typeface="ＭＳ Ｐゴシック" charset="-128"/>
              </a:rPr>
              <a:t>6. What Love Tells Me (Adagio)</a:t>
            </a:r>
          </a:p>
        </p:txBody>
      </p:sp>
      <p:sp>
        <p:nvSpPr>
          <p:cNvPr id="4" name="Vertical Text Placeholder 2">
            <a:extLst>
              <a:ext uri="{FF2B5EF4-FFF2-40B4-BE49-F238E27FC236}">
                <a16:creationId xmlns:a16="http://schemas.microsoft.com/office/drawing/2014/main" id="{A3713DFE-FFC1-8327-7DF8-63E63A996D92}"/>
              </a:ext>
            </a:extLst>
          </p:cNvPr>
          <p:cNvSpPr txBox="1">
            <a:spLocks/>
          </p:cNvSpPr>
          <p:nvPr/>
        </p:nvSpPr>
        <p:spPr bwMode="auto">
          <a:xfrm>
            <a:off x="440800" y="5157192"/>
            <a:ext cx="8229600" cy="1008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effectLst/>
                <a:latin typeface="Gill Sans MT" panose="020B0502020104020203" pitchFamily="34" charset="77"/>
                <a:ea typeface="MS Mincho" panose="02020609040205080304" pitchFamily="49" charset="-128"/>
                <a:cs typeface="Times New Roman" panose="02020603050405020304" pitchFamily="18" charset="0"/>
              </a:rPr>
              <a:t>‘To me, “symphony” means constructing a world with all the technical means at one’s disposal’ (1895, while working on Third)</a:t>
            </a:r>
            <a:r>
              <a:rPr lang="en-GB" sz="2400" dirty="0">
                <a:effectLst/>
                <a:latin typeface="Gill Sans MT" panose="020B0502020104020203" pitchFamily="34" charset="77"/>
              </a:rPr>
              <a:t> </a:t>
            </a:r>
            <a:endParaRPr lang="en-US" altLang="x-none" sz="2400" dirty="0">
              <a:latin typeface="Gill Sans MT" panose="020B0502020104020203" pitchFamily="34" charset="77"/>
              <a:ea typeface="ＭＳ Ｐゴシック" charset="-128"/>
            </a:endParaRPr>
          </a:p>
          <a:p>
            <a:endParaRPr lang="en-US" altLang="x-none" sz="2000" dirty="0">
              <a:latin typeface="Gill Sans MT" charset="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p:txBody>
          <a:bodyPr/>
          <a:lstStyle/>
          <a:p>
            <a:r>
              <a:rPr lang="en-US" altLang="x-none" dirty="0">
                <a:latin typeface="Gill Sans MT" charset="0"/>
                <a:ea typeface="ＭＳ Ｐゴシック" charset="-128"/>
              </a:rPr>
              <a:t>1. </a:t>
            </a:r>
            <a:r>
              <a:rPr lang="en-US" altLang="x-none" dirty="0" err="1">
                <a:latin typeface="Gill Sans MT" charset="0"/>
                <a:ea typeface="ＭＳ Ｐゴシック" charset="-128"/>
              </a:rPr>
              <a:t>Kräftig</a:t>
            </a:r>
            <a:r>
              <a:rPr lang="en-US" altLang="x-none" dirty="0">
                <a:latin typeface="Gill Sans MT" charset="0"/>
                <a:ea typeface="ＭＳ Ｐゴシック" charset="-128"/>
              </a:rPr>
              <a:t>, </a:t>
            </a:r>
            <a:r>
              <a:rPr lang="en-US" altLang="x-none" dirty="0" err="1">
                <a:latin typeface="Gill Sans MT" charset="0"/>
                <a:ea typeface="ＭＳ Ｐゴシック" charset="-128"/>
              </a:rPr>
              <a:t>entschieden</a:t>
            </a:r>
            <a:endParaRPr lang="en-US" altLang="x-none" dirty="0">
              <a:latin typeface="Gill Sans MT" charset="0"/>
              <a:ea typeface="ＭＳ Ｐゴシック" charset="-128"/>
            </a:endParaRPr>
          </a:p>
        </p:txBody>
      </p:sp>
      <p:sp>
        <p:nvSpPr>
          <p:cNvPr id="3" name="Vertical Text Placeholder 2"/>
          <p:cNvSpPr>
            <a:spLocks noGrp="1"/>
          </p:cNvSpPr>
          <p:nvPr>
            <p:ph type="body" orient="vert" idx="1"/>
          </p:nvPr>
        </p:nvSpPr>
        <p:spPr>
          <a:xfrm>
            <a:off x="457200" y="1916832"/>
            <a:ext cx="8229600" cy="1900808"/>
          </a:xfrm>
        </p:spPr>
        <p:txBody>
          <a:bodyPr vert="horz"/>
          <a:lstStyle/>
          <a:p>
            <a:r>
              <a:rPr lang="en-US" altLang="x-none" sz="2400" b="1" dirty="0">
                <a:latin typeface="Gill Sans MT" charset="0"/>
                <a:ea typeface="ＭＳ Ｐゴシック" charset="-128"/>
              </a:rPr>
              <a:t>‘Pan awakes’</a:t>
            </a:r>
          </a:p>
          <a:p>
            <a:r>
              <a:rPr lang="en-US" altLang="x-none" sz="2400" dirty="0">
                <a:latin typeface="Gill Sans MT" charset="0"/>
                <a:ea typeface="ＭＳ Ｐゴシック" charset="-128"/>
              </a:rPr>
              <a:t>Opening horn call: history of the symphony? Beethoven, Brahms?</a:t>
            </a:r>
          </a:p>
          <a:p>
            <a:r>
              <a:rPr lang="en-US" sz="2400" dirty="0"/>
              <a:t>Followed by march… ‘it has almost ceased to be music; it is hardly anything but sounds of Nature’ (Mahler to Natalie Bauer-Lechner in 1896)</a:t>
            </a:r>
          </a:p>
          <a:p>
            <a:r>
              <a:rPr lang="en-US" altLang="x-none" sz="2400" dirty="0">
                <a:latin typeface="Gill Sans MT" charset="0"/>
                <a:ea typeface="ＭＳ Ｐゴシック" charset="-128"/>
              </a:rPr>
              <a:t>Musical vision of nature in the process of becoming</a:t>
            </a:r>
          </a:p>
          <a:p>
            <a:pPr marL="0" indent="0">
              <a:buNone/>
            </a:pPr>
            <a:endParaRPr lang="en-US" altLang="x-none" sz="2400" dirty="0">
              <a:latin typeface="Gill Sans MT" charset="0"/>
              <a:ea typeface="ＭＳ Ｐゴシック" charset="-128"/>
            </a:endParaRPr>
          </a:p>
          <a:p>
            <a:endParaRPr lang="en-US" altLang="x-none" sz="2400" b="1" dirty="0">
              <a:latin typeface="Gill Sans MT" charset="0"/>
              <a:ea typeface="ＭＳ Ｐゴシック" charset="-128"/>
            </a:endParaRPr>
          </a:p>
        </p:txBody>
      </p:sp>
    </p:spTree>
    <p:extLst>
      <p:ext uri="{BB962C8B-B14F-4D97-AF65-F5344CB8AC3E}">
        <p14:creationId xmlns:p14="http://schemas.microsoft.com/office/powerpoint/2010/main" val="375065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547813" y="3789363"/>
            <a:ext cx="720725"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4" name="Rectangle 3"/>
          <p:cNvSpPr>
            <a:spLocks noChangeArrowheads="1"/>
          </p:cNvSpPr>
          <p:nvPr/>
        </p:nvSpPr>
        <p:spPr bwMode="auto">
          <a:xfrm>
            <a:off x="1619250" y="4221163"/>
            <a:ext cx="1296988"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5" name="Rectangle 4"/>
          <p:cNvSpPr>
            <a:spLocks noChangeArrowheads="1"/>
          </p:cNvSpPr>
          <p:nvPr/>
        </p:nvSpPr>
        <p:spPr bwMode="auto">
          <a:xfrm>
            <a:off x="3779838" y="4149725"/>
            <a:ext cx="720725" cy="431800"/>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pic>
        <p:nvPicPr>
          <p:cNvPr id="12" name="Picture 11">
            <a:extLst>
              <a:ext uri="{FF2B5EF4-FFF2-40B4-BE49-F238E27FC236}">
                <a16:creationId xmlns:a16="http://schemas.microsoft.com/office/drawing/2014/main" id="{BC2087C7-249C-3D45-B7B4-4C12CD9D4410}"/>
              </a:ext>
            </a:extLst>
          </p:cNvPr>
          <p:cNvPicPr>
            <a:picLocks noChangeAspect="1"/>
          </p:cNvPicPr>
          <p:nvPr/>
        </p:nvPicPr>
        <p:blipFill>
          <a:blip r:embed="rId2"/>
          <a:stretch>
            <a:fillRect/>
          </a:stretch>
        </p:blipFill>
        <p:spPr>
          <a:xfrm>
            <a:off x="3789" y="0"/>
            <a:ext cx="5061857" cy="6858000"/>
          </a:xfrm>
          <a:prstGeom prst="rect">
            <a:avLst/>
          </a:prstGeom>
        </p:spPr>
      </p:pic>
      <p:pic>
        <p:nvPicPr>
          <p:cNvPr id="13" name="Picture 12">
            <a:extLst>
              <a:ext uri="{FF2B5EF4-FFF2-40B4-BE49-F238E27FC236}">
                <a16:creationId xmlns:a16="http://schemas.microsoft.com/office/drawing/2014/main" id="{1ACEC310-9921-DA43-8A37-A8270EE35837}"/>
              </a:ext>
            </a:extLst>
          </p:cNvPr>
          <p:cNvPicPr>
            <a:picLocks noChangeAspect="1"/>
          </p:cNvPicPr>
          <p:nvPr/>
        </p:nvPicPr>
        <p:blipFill>
          <a:blip r:embed="rId3"/>
          <a:stretch>
            <a:fillRect/>
          </a:stretch>
        </p:blipFill>
        <p:spPr>
          <a:xfrm>
            <a:off x="4691949" y="332656"/>
            <a:ext cx="4444284" cy="6021288"/>
          </a:xfrm>
          <a:prstGeom prst="rect">
            <a:avLst/>
          </a:prstGeom>
        </p:spPr>
      </p:pic>
      <p:sp>
        <p:nvSpPr>
          <p:cNvPr id="2" name="Rectangle 1"/>
          <p:cNvSpPr>
            <a:spLocks noChangeArrowheads="1"/>
          </p:cNvSpPr>
          <p:nvPr/>
        </p:nvSpPr>
        <p:spPr bwMode="auto">
          <a:xfrm>
            <a:off x="1614822" y="2564904"/>
            <a:ext cx="2669146" cy="358775"/>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8201750-C5AF-2742-A86F-653B1BAD1F10}"/>
              </a:ext>
            </a:extLst>
          </p:cNvPr>
          <p:cNvPicPr>
            <a:picLocks noChangeAspect="1"/>
          </p:cNvPicPr>
          <p:nvPr/>
        </p:nvPicPr>
        <p:blipFill>
          <a:blip r:embed="rId2"/>
          <a:stretch>
            <a:fillRect/>
          </a:stretch>
        </p:blipFill>
        <p:spPr>
          <a:xfrm>
            <a:off x="4427538" y="0"/>
            <a:ext cx="4975772" cy="6741368"/>
          </a:xfrm>
          <a:prstGeom prst="rect">
            <a:avLst/>
          </a:prstGeom>
        </p:spPr>
      </p:pic>
      <p:sp>
        <p:nvSpPr>
          <p:cNvPr id="3" name="Rectangle 2"/>
          <p:cNvSpPr>
            <a:spLocks noChangeArrowheads="1"/>
          </p:cNvSpPr>
          <p:nvPr/>
        </p:nvSpPr>
        <p:spPr bwMode="auto">
          <a:xfrm>
            <a:off x="1547813" y="3789363"/>
            <a:ext cx="720725"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4" name="Rectangle 3"/>
          <p:cNvSpPr>
            <a:spLocks noChangeArrowheads="1"/>
          </p:cNvSpPr>
          <p:nvPr/>
        </p:nvSpPr>
        <p:spPr bwMode="auto">
          <a:xfrm>
            <a:off x="1619250" y="4221163"/>
            <a:ext cx="1296988"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5" name="Rectangle 4"/>
          <p:cNvSpPr>
            <a:spLocks noChangeArrowheads="1"/>
          </p:cNvSpPr>
          <p:nvPr/>
        </p:nvSpPr>
        <p:spPr bwMode="auto">
          <a:xfrm>
            <a:off x="3779838" y="4149725"/>
            <a:ext cx="720725" cy="431800"/>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2" name="Rectangle 1"/>
          <p:cNvSpPr>
            <a:spLocks noChangeArrowheads="1"/>
          </p:cNvSpPr>
          <p:nvPr/>
        </p:nvSpPr>
        <p:spPr bwMode="auto">
          <a:xfrm>
            <a:off x="1614822" y="2564904"/>
            <a:ext cx="2669146" cy="358775"/>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pic>
        <p:nvPicPr>
          <p:cNvPr id="8" name="Picture 7">
            <a:extLst>
              <a:ext uri="{FF2B5EF4-FFF2-40B4-BE49-F238E27FC236}">
                <a16:creationId xmlns:a16="http://schemas.microsoft.com/office/drawing/2014/main" id="{CE5881A2-35BE-B34B-B6BE-08CF002C7D7D}"/>
              </a:ext>
            </a:extLst>
          </p:cNvPr>
          <p:cNvPicPr>
            <a:picLocks noChangeAspect="1"/>
          </p:cNvPicPr>
          <p:nvPr/>
        </p:nvPicPr>
        <p:blipFill rotWithShape="1">
          <a:blip r:embed="rId3"/>
          <a:srcRect t="6300" r="8254" b="7600"/>
          <a:stretch/>
        </p:blipFill>
        <p:spPr>
          <a:xfrm>
            <a:off x="1" y="188640"/>
            <a:ext cx="4644007" cy="5904656"/>
          </a:xfrm>
          <a:prstGeom prst="rect">
            <a:avLst/>
          </a:prstGeom>
        </p:spPr>
      </p:pic>
    </p:spTree>
    <p:extLst>
      <p:ext uri="{BB962C8B-B14F-4D97-AF65-F5344CB8AC3E}">
        <p14:creationId xmlns:p14="http://schemas.microsoft.com/office/powerpoint/2010/main" val="324605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547813" y="3789363"/>
            <a:ext cx="720725"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4" name="Rectangle 3"/>
          <p:cNvSpPr>
            <a:spLocks noChangeArrowheads="1"/>
          </p:cNvSpPr>
          <p:nvPr/>
        </p:nvSpPr>
        <p:spPr bwMode="auto">
          <a:xfrm>
            <a:off x="1619250" y="4221163"/>
            <a:ext cx="1296988"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5" name="Rectangle 4"/>
          <p:cNvSpPr>
            <a:spLocks noChangeArrowheads="1"/>
          </p:cNvSpPr>
          <p:nvPr/>
        </p:nvSpPr>
        <p:spPr bwMode="auto">
          <a:xfrm>
            <a:off x="3779838" y="4149725"/>
            <a:ext cx="720725" cy="431800"/>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2" name="Rectangle 1"/>
          <p:cNvSpPr>
            <a:spLocks noChangeArrowheads="1"/>
          </p:cNvSpPr>
          <p:nvPr/>
        </p:nvSpPr>
        <p:spPr bwMode="auto">
          <a:xfrm>
            <a:off x="1614822" y="2564904"/>
            <a:ext cx="2669146" cy="358775"/>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pic>
        <p:nvPicPr>
          <p:cNvPr id="6" name="Picture 5">
            <a:extLst>
              <a:ext uri="{FF2B5EF4-FFF2-40B4-BE49-F238E27FC236}">
                <a16:creationId xmlns:a16="http://schemas.microsoft.com/office/drawing/2014/main" id="{7A9CD482-FFBF-4A49-889F-058EA872CBF9}"/>
              </a:ext>
            </a:extLst>
          </p:cNvPr>
          <p:cNvPicPr>
            <a:picLocks noChangeAspect="1"/>
          </p:cNvPicPr>
          <p:nvPr/>
        </p:nvPicPr>
        <p:blipFill rotWithShape="1">
          <a:blip r:embed="rId2"/>
          <a:srcRect t="5901" r="6572" b="10101"/>
          <a:stretch/>
        </p:blipFill>
        <p:spPr>
          <a:xfrm>
            <a:off x="-13181" y="404664"/>
            <a:ext cx="4610967" cy="5616624"/>
          </a:xfrm>
          <a:prstGeom prst="rect">
            <a:avLst/>
          </a:prstGeom>
        </p:spPr>
      </p:pic>
      <p:pic>
        <p:nvPicPr>
          <p:cNvPr id="7" name="Picture 6">
            <a:extLst>
              <a:ext uri="{FF2B5EF4-FFF2-40B4-BE49-F238E27FC236}">
                <a16:creationId xmlns:a16="http://schemas.microsoft.com/office/drawing/2014/main" id="{92490671-9AAA-884C-985E-882F9771ED95}"/>
              </a:ext>
            </a:extLst>
          </p:cNvPr>
          <p:cNvPicPr>
            <a:picLocks noChangeAspect="1"/>
          </p:cNvPicPr>
          <p:nvPr/>
        </p:nvPicPr>
        <p:blipFill rotWithShape="1">
          <a:blip r:embed="rId3"/>
          <a:srcRect l="2550" t="36" r="4100" b="7558"/>
          <a:stretch/>
        </p:blipFill>
        <p:spPr>
          <a:xfrm>
            <a:off x="4548668" y="2464"/>
            <a:ext cx="4595332" cy="6162840"/>
          </a:xfrm>
          <a:prstGeom prst="rect">
            <a:avLst/>
          </a:prstGeom>
        </p:spPr>
      </p:pic>
    </p:spTree>
    <p:extLst>
      <p:ext uri="{BB962C8B-B14F-4D97-AF65-F5344CB8AC3E}">
        <p14:creationId xmlns:p14="http://schemas.microsoft.com/office/powerpoint/2010/main" val="3989669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CE351-F7B3-C6BC-C412-4DBA012C8188}"/>
            </a:ext>
          </a:extLst>
        </p:cNvPr>
        <p:cNvGrpSpPr/>
        <p:nvPr/>
      </p:nvGrpSpPr>
      <p:grpSpPr>
        <a:xfrm>
          <a:off x="0" y="0"/>
          <a:ext cx="0" cy="0"/>
          <a:chOff x="0" y="0"/>
          <a:chExt cx="0" cy="0"/>
        </a:xfrm>
      </p:grpSpPr>
      <p:sp>
        <p:nvSpPr>
          <p:cNvPr id="71681" name="Title 1">
            <a:extLst>
              <a:ext uri="{FF2B5EF4-FFF2-40B4-BE49-F238E27FC236}">
                <a16:creationId xmlns:a16="http://schemas.microsoft.com/office/drawing/2014/main" id="{629F6795-34A1-29FA-901E-09E69D5A1F07}"/>
              </a:ext>
            </a:extLst>
          </p:cNvPr>
          <p:cNvSpPr>
            <a:spLocks noGrp="1"/>
          </p:cNvSpPr>
          <p:nvPr>
            <p:ph type="title"/>
          </p:nvPr>
        </p:nvSpPr>
        <p:spPr/>
        <p:txBody>
          <a:bodyPr/>
          <a:lstStyle/>
          <a:p>
            <a:r>
              <a:rPr lang="en-US" altLang="x-none" dirty="0">
                <a:latin typeface="Gill Sans MT" charset="0"/>
                <a:ea typeface="ＭＳ Ｐゴシック" charset="-128"/>
              </a:rPr>
              <a:t>1. </a:t>
            </a:r>
            <a:r>
              <a:rPr lang="en-US" altLang="x-none" dirty="0" err="1">
                <a:latin typeface="Gill Sans MT" charset="0"/>
                <a:ea typeface="ＭＳ Ｐゴシック" charset="-128"/>
              </a:rPr>
              <a:t>Kräftig</a:t>
            </a:r>
            <a:r>
              <a:rPr lang="en-US" altLang="x-none" dirty="0">
                <a:latin typeface="Gill Sans MT" charset="0"/>
                <a:ea typeface="ＭＳ Ｐゴシック" charset="-128"/>
              </a:rPr>
              <a:t>, </a:t>
            </a:r>
            <a:r>
              <a:rPr lang="en-US" altLang="x-none" dirty="0" err="1">
                <a:latin typeface="Gill Sans MT" charset="0"/>
                <a:ea typeface="ＭＳ Ｐゴシック" charset="-128"/>
              </a:rPr>
              <a:t>entschieden</a:t>
            </a:r>
            <a:endParaRPr lang="en-US" altLang="x-none" dirty="0">
              <a:latin typeface="Gill Sans MT" charset="0"/>
              <a:ea typeface="ＭＳ Ｐゴシック" charset="-128"/>
            </a:endParaRPr>
          </a:p>
        </p:txBody>
      </p:sp>
      <p:sp>
        <p:nvSpPr>
          <p:cNvPr id="3" name="Vertical Text Placeholder 2">
            <a:extLst>
              <a:ext uri="{FF2B5EF4-FFF2-40B4-BE49-F238E27FC236}">
                <a16:creationId xmlns:a16="http://schemas.microsoft.com/office/drawing/2014/main" id="{C57D6E2C-8E95-7E0F-3CB1-7527D1E71DED}"/>
              </a:ext>
            </a:extLst>
          </p:cNvPr>
          <p:cNvSpPr>
            <a:spLocks noGrp="1"/>
          </p:cNvSpPr>
          <p:nvPr>
            <p:ph type="body" orient="vert" idx="1"/>
          </p:nvPr>
        </p:nvSpPr>
        <p:spPr>
          <a:xfrm>
            <a:off x="457200" y="1600201"/>
            <a:ext cx="8229600" cy="1900808"/>
          </a:xfrm>
        </p:spPr>
        <p:txBody>
          <a:bodyPr vert="horz"/>
          <a:lstStyle/>
          <a:p>
            <a:r>
              <a:rPr lang="en-US" altLang="x-none" sz="2400" b="1" dirty="0">
                <a:latin typeface="Gill Sans MT" charset="0"/>
                <a:ea typeface="ＭＳ Ｐゴシック" charset="-128"/>
              </a:rPr>
              <a:t>‘Pan awakes’</a:t>
            </a:r>
          </a:p>
          <a:p>
            <a:r>
              <a:rPr lang="en-US" altLang="x-none" sz="2400" dirty="0">
                <a:latin typeface="Gill Sans MT" charset="0"/>
                <a:ea typeface="ＭＳ Ｐゴシック" charset="-128"/>
              </a:rPr>
              <a:t>Opening horn call: history of the symphony? Beethoven, Brahms?</a:t>
            </a:r>
          </a:p>
          <a:p>
            <a:r>
              <a:rPr lang="en-US" sz="2400" dirty="0"/>
              <a:t>Followed by march… ‘it has almost ceased to be music; it is hardly anything but sounds of Nature’ (Mahler to Natalie Bauer-Lechner in 1896)</a:t>
            </a:r>
          </a:p>
          <a:p>
            <a:r>
              <a:rPr lang="en-US" altLang="x-none" sz="2400" dirty="0">
                <a:latin typeface="Gill Sans MT" charset="0"/>
                <a:ea typeface="ＭＳ Ｐゴシック" charset="-128"/>
              </a:rPr>
              <a:t>Musical vision of nature in the process of becoming</a:t>
            </a:r>
          </a:p>
          <a:p>
            <a:pPr marL="0" indent="0">
              <a:buNone/>
            </a:pPr>
            <a:endParaRPr lang="en-US" altLang="x-none" sz="2400" dirty="0">
              <a:latin typeface="Gill Sans MT" charset="0"/>
              <a:ea typeface="ＭＳ Ｐゴシック" charset="-128"/>
            </a:endParaRPr>
          </a:p>
          <a:p>
            <a:endParaRPr lang="en-US" altLang="x-none" sz="2400" b="1" dirty="0">
              <a:latin typeface="Gill Sans MT" charset="0"/>
              <a:ea typeface="ＭＳ Ｐゴシック" charset="-128"/>
            </a:endParaRPr>
          </a:p>
        </p:txBody>
      </p:sp>
      <p:sp>
        <p:nvSpPr>
          <p:cNvPr id="2" name="Vertical Text Placeholder 2">
            <a:extLst>
              <a:ext uri="{FF2B5EF4-FFF2-40B4-BE49-F238E27FC236}">
                <a16:creationId xmlns:a16="http://schemas.microsoft.com/office/drawing/2014/main" id="{399C4E48-85CA-D952-5C8F-C1CA78299C78}"/>
              </a:ext>
            </a:extLst>
          </p:cNvPr>
          <p:cNvSpPr txBox="1">
            <a:spLocks/>
          </p:cNvSpPr>
          <p:nvPr/>
        </p:nvSpPr>
        <p:spPr bwMode="auto">
          <a:xfrm>
            <a:off x="477340" y="4317699"/>
            <a:ext cx="8229600" cy="926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Gill Sans MT"/>
                <a:ea typeface="ＭＳ Ｐゴシック" pitchFamily="-108" charset="-128"/>
                <a:cs typeface="ＭＳ Ｐゴシック" pitchFamily="-108" charset="-128"/>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Gill Sans MT"/>
                <a:ea typeface="ＭＳ Ｐゴシック" pitchFamily="-108" charset="-128"/>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Gill Sans MT"/>
                <a:ea typeface="ＭＳ Ｐゴシック" pitchFamily="-108" charset="-128"/>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Gill Sans MT"/>
                <a:ea typeface="ＭＳ Ｐゴシック" pitchFamily="-108"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x-none" sz="2400" b="1" dirty="0">
                <a:latin typeface="Gill Sans MT" charset="0"/>
                <a:ea typeface="ＭＳ Ｐゴシック" charset="-128"/>
              </a:rPr>
              <a:t>‘Summer marches in’</a:t>
            </a:r>
          </a:p>
          <a:p>
            <a:r>
              <a:rPr lang="en-US" altLang="x-none" sz="2400" dirty="0">
                <a:latin typeface="Gill Sans MT" charset="0"/>
                <a:ea typeface="ＭＳ Ｐゴシック" charset="-128"/>
              </a:rPr>
              <a:t>Melodically trivial, ‘banal’, like a bad military band (‘</a:t>
            </a:r>
            <a:r>
              <a:rPr lang="en-US" altLang="x-none" sz="2400" dirty="0" err="1">
                <a:latin typeface="Gill Sans MT" charset="0"/>
                <a:ea typeface="ＭＳ Ｐゴシック" charset="-128"/>
              </a:rPr>
              <a:t>Bachuszug</a:t>
            </a:r>
            <a:r>
              <a:rPr lang="en-US" altLang="x-none" sz="2400" dirty="0">
                <a:latin typeface="Gill Sans MT" charset="0"/>
                <a:ea typeface="ＭＳ Ｐゴシック" charset="-128"/>
              </a:rPr>
              <a:t>’)</a:t>
            </a:r>
          </a:p>
          <a:p>
            <a:endParaRPr lang="en-US" altLang="x-none" sz="2400" b="1" dirty="0">
              <a:latin typeface="Gill Sans MT" charset="0"/>
              <a:ea typeface="ＭＳ Ｐゴシック" charset="-128"/>
            </a:endParaRPr>
          </a:p>
        </p:txBody>
      </p:sp>
    </p:spTree>
    <p:extLst>
      <p:ext uri="{BB962C8B-B14F-4D97-AF65-F5344CB8AC3E}">
        <p14:creationId xmlns:p14="http://schemas.microsoft.com/office/powerpoint/2010/main" val="222125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547813" y="3789363"/>
            <a:ext cx="720725"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4" name="Rectangle 3"/>
          <p:cNvSpPr>
            <a:spLocks noChangeArrowheads="1"/>
          </p:cNvSpPr>
          <p:nvPr/>
        </p:nvSpPr>
        <p:spPr bwMode="auto">
          <a:xfrm>
            <a:off x="1619250" y="4221163"/>
            <a:ext cx="1296988"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5" name="Rectangle 4"/>
          <p:cNvSpPr>
            <a:spLocks noChangeArrowheads="1"/>
          </p:cNvSpPr>
          <p:nvPr/>
        </p:nvSpPr>
        <p:spPr bwMode="auto">
          <a:xfrm>
            <a:off x="3779838" y="4149725"/>
            <a:ext cx="720725" cy="431800"/>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pic>
        <p:nvPicPr>
          <p:cNvPr id="6" name="Picture 5">
            <a:extLst>
              <a:ext uri="{FF2B5EF4-FFF2-40B4-BE49-F238E27FC236}">
                <a16:creationId xmlns:a16="http://schemas.microsoft.com/office/drawing/2014/main" id="{BE71C609-68DC-3949-95A9-2A9C409B9ACC}"/>
              </a:ext>
            </a:extLst>
          </p:cNvPr>
          <p:cNvPicPr>
            <a:picLocks noChangeAspect="1"/>
          </p:cNvPicPr>
          <p:nvPr/>
        </p:nvPicPr>
        <p:blipFill rotWithShape="1">
          <a:blip r:embed="rId2"/>
          <a:srcRect r="2917" b="6465"/>
          <a:stretch/>
        </p:blipFill>
        <p:spPr>
          <a:xfrm>
            <a:off x="0" y="0"/>
            <a:ext cx="4792873" cy="6256290"/>
          </a:xfrm>
          <a:prstGeom prst="rect">
            <a:avLst/>
          </a:prstGeom>
        </p:spPr>
      </p:pic>
      <p:sp>
        <p:nvSpPr>
          <p:cNvPr id="2" name="Rectangle 1"/>
          <p:cNvSpPr>
            <a:spLocks noChangeArrowheads="1"/>
          </p:cNvSpPr>
          <p:nvPr/>
        </p:nvSpPr>
        <p:spPr bwMode="auto">
          <a:xfrm>
            <a:off x="539552" y="2769370"/>
            <a:ext cx="2846270" cy="358775"/>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pic>
        <p:nvPicPr>
          <p:cNvPr id="7" name="Picture 6">
            <a:extLst>
              <a:ext uri="{FF2B5EF4-FFF2-40B4-BE49-F238E27FC236}">
                <a16:creationId xmlns:a16="http://schemas.microsoft.com/office/drawing/2014/main" id="{A9DAEF3E-87EB-6E49-8995-C15A12BDB98E}"/>
              </a:ext>
            </a:extLst>
          </p:cNvPr>
          <p:cNvPicPr>
            <a:picLocks noChangeAspect="1"/>
          </p:cNvPicPr>
          <p:nvPr/>
        </p:nvPicPr>
        <p:blipFill rotWithShape="1">
          <a:blip r:embed="rId3"/>
          <a:srcRect l="2157" t="-650" r="7539" b="9425"/>
          <a:stretch/>
        </p:blipFill>
        <p:spPr>
          <a:xfrm>
            <a:off x="4673102" y="0"/>
            <a:ext cx="4451961" cy="6093296"/>
          </a:xfrm>
          <a:prstGeom prst="rect">
            <a:avLst/>
          </a:prstGeom>
        </p:spPr>
      </p:pic>
    </p:spTree>
    <p:extLst>
      <p:ext uri="{BB962C8B-B14F-4D97-AF65-F5344CB8AC3E}">
        <p14:creationId xmlns:p14="http://schemas.microsoft.com/office/powerpoint/2010/main" val="2123066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547813" y="3789363"/>
            <a:ext cx="720725"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4" name="Rectangle 3"/>
          <p:cNvSpPr>
            <a:spLocks noChangeArrowheads="1"/>
          </p:cNvSpPr>
          <p:nvPr/>
        </p:nvSpPr>
        <p:spPr bwMode="auto">
          <a:xfrm>
            <a:off x="1619250" y="4221163"/>
            <a:ext cx="1296988" cy="360362"/>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5" name="Rectangle 4"/>
          <p:cNvSpPr>
            <a:spLocks noChangeArrowheads="1"/>
          </p:cNvSpPr>
          <p:nvPr/>
        </p:nvSpPr>
        <p:spPr bwMode="auto">
          <a:xfrm>
            <a:off x="3779838" y="4149725"/>
            <a:ext cx="720725" cy="431800"/>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sp>
        <p:nvSpPr>
          <p:cNvPr id="2" name="Rectangle 1"/>
          <p:cNvSpPr>
            <a:spLocks noChangeArrowheads="1"/>
          </p:cNvSpPr>
          <p:nvPr/>
        </p:nvSpPr>
        <p:spPr bwMode="auto">
          <a:xfrm>
            <a:off x="539552" y="2769370"/>
            <a:ext cx="2846270" cy="358775"/>
          </a:xfrm>
          <a:prstGeom prst="rect">
            <a:avLst/>
          </a:prstGeom>
          <a:noFill/>
          <a:ln w="28575">
            <a:solidFill>
              <a:srgbClr val="3366FF"/>
            </a:solidFill>
            <a:miter lim="800000"/>
            <a:headEnd/>
            <a:tailEnd/>
          </a:ln>
          <a:effectLst>
            <a:outerShdw blurRad="40000" dist="23000" dir="5400000" rotWithShape="0">
              <a:srgbClr val="000000">
                <a:alpha val="34999"/>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defTabSz="457200"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457200"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457200"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4572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endParaRPr lang="x-none" altLang="x-none" sz="1800">
              <a:solidFill>
                <a:srgbClr val="FFFFFF"/>
              </a:solidFill>
              <a:latin typeface="Calibri" charset="0"/>
            </a:endParaRPr>
          </a:p>
        </p:txBody>
      </p:sp>
      <p:pic>
        <p:nvPicPr>
          <p:cNvPr id="8" name="Picture 7">
            <a:extLst>
              <a:ext uri="{FF2B5EF4-FFF2-40B4-BE49-F238E27FC236}">
                <a16:creationId xmlns:a16="http://schemas.microsoft.com/office/drawing/2014/main" id="{F5E7A924-AA46-3144-A212-DC393EB8A7E0}"/>
              </a:ext>
            </a:extLst>
          </p:cNvPr>
          <p:cNvPicPr>
            <a:picLocks noChangeAspect="1"/>
          </p:cNvPicPr>
          <p:nvPr/>
        </p:nvPicPr>
        <p:blipFill rotWithShape="1">
          <a:blip r:embed="rId2"/>
          <a:srcRect l="4494" t="3800" r="3055" b="8001"/>
          <a:stretch/>
        </p:blipFill>
        <p:spPr>
          <a:xfrm>
            <a:off x="179512" y="260648"/>
            <a:ext cx="4568304" cy="5904656"/>
          </a:xfrm>
          <a:prstGeom prst="rect">
            <a:avLst/>
          </a:prstGeom>
        </p:spPr>
      </p:pic>
      <p:pic>
        <p:nvPicPr>
          <p:cNvPr id="9" name="Picture 8">
            <a:extLst>
              <a:ext uri="{FF2B5EF4-FFF2-40B4-BE49-F238E27FC236}">
                <a16:creationId xmlns:a16="http://schemas.microsoft.com/office/drawing/2014/main" id="{F92E59AE-8D5C-3144-8FA8-F35556ADE7FA}"/>
              </a:ext>
            </a:extLst>
          </p:cNvPr>
          <p:cNvPicPr>
            <a:picLocks noChangeAspect="1"/>
          </p:cNvPicPr>
          <p:nvPr/>
        </p:nvPicPr>
        <p:blipFill rotWithShape="1">
          <a:blip r:embed="rId3"/>
          <a:srcRect l="4494" r="4363" b="10101"/>
          <a:stretch/>
        </p:blipFill>
        <p:spPr>
          <a:xfrm>
            <a:off x="4667343" y="189509"/>
            <a:ext cx="4471692" cy="5975795"/>
          </a:xfrm>
          <a:prstGeom prst="rect">
            <a:avLst/>
          </a:prstGeom>
        </p:spPr>
      </p:pic>
    </p:spTree>
    <p:extLst>
      <p:ext uri="{BB962C8B-B14F-4D97-AF65-F5344CB8AC3E}">
        <p14:creationId xmlns:p14="http://schemas.microsoft.com/office/powerpoint/2010/main" val="19849750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4071</TotalTime>
  <Words>1415</Words>
  <Application>Microsoft Macintosh PowerPoint</Application>
  <PresentationFormat>On-screen Show (4:3)</PresentationFormat>
  <Paragraphs>107</Paragraphs>
  <Slides>30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Gill Sans MT</vt:lpstr>
      <vt:lpstr>Office Theme</vt:lpstr>
      <vt:lpstr>Music and its Cultures II</vt:lpstr>
      <vt:lpstr>1. The Growing Prestige of the Symphony  2. Beethoven’s ‘Heroic’…  3. … and the ‘Symphony Concert’  4. Mahler and the ‘Chain of Being’</vt:lpstr>
      <vt:lpstr>Le Thé à l'anglaise servi dans le salon des quatre-glaces au Palais du Temple à Paris, Michel-Barthélémy Ollivier (1766)</vt:lpstr>
      <vt:lpstr>Johann Abraham Schulz on the Symphony</vt:lpstr>
      <vt:lpstr>Ludwig van Beethoven (1770-1827)</vt:lpstr>
      <vt:lpstr>Beethoven in context</vt:lpstr>
      <vt:lpstr>Beethoven in context</vt:lpstr>
      <vt:lpstr>PowerPoint Presentation</vt:lpstr>
      <vt:lpstr>PowerPoint Presentation</vt:lpstr>
      <vt:lpstr>1. Symphonic Prestige  2. Beethoven’s ‘Heroic’…  3. … and the ‘Symphony Concert’  4. Mahler and the ‘Chain of Being’</vt:lpstr>
      <vt:lpstr>Beethoven and the Symphony</vt:lpstr>
      <vt:lpstr>PowerPoint Presentation</vt:lpstr>
      <vt:lpstr>PowerPoint Presentation</vt:lpstr>
      <vt:lpstr>PowerPoint Presentation</vt:lpstr>
      <vt:lpstr>PowerPoint Presentation</vt:lpstr>
      <vt:lpstr>PowerPoint Presentation</vt:lpstr>
      <vt:lpstr>Beethoven’s symphonic achievements</vt:lpstr>
      <vt:lpstr>1. Symphonic Prestige  2. Beethoven’s ‘Heroic’…  3. … and the ‘Symphony Concert’  4. Mahler and the ‘Chain of Being’</vt:lpstr>
      <vt:lpstr>The ‘Symphony Concert’</vt:lpstr>
      <vt:lpstr>PowerPoint Presentation</vt:lpstr>
      <vt:lpstr>1. Symphonic Prestige  2. Beethoven’s ‘Heroic’…  3. … and the ‘Symphony Concert’  4. Mahler and the ‘Chain of Being’</vt:lpstr>
      <vt:lpstr>Gustav Mahler (1860-1911)</vt:lpstr>
      <vt:lpstr>Symphony No. 3 (1896)</vt:lpstr>
      <vt:lpstr>1. Kräftig, entschieden</vt:lpstr>
      <vt:lpstr>PowerPoint Presentation</vt:lpstr>
      <vt:lpstr>PowerPoint Presentation</vt:lpstr>
      <vt:lpstr>PowerPoint Presentation</vt:lpstr>
      <vt:lpstr>1. Kräftig, entschieden</vt:lpstr>
      <vt:lpstr>PowerPoint Presentation</vt:lpstr>
      <vt:lpstr>PowerPoint Presentation</vt:lpstr>
    </vt:vector>
  </TitlesOfParts>
  <Company>University of Birmingham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2a</dc:title>
  <dc:creator>Paul Rodmell</dc:creator>
  <cp:lastModifiedBy>Nicholas Attfield</cp:lastModifiedBy>
  <cp:revision>101</cp:revision>
  <cp:lastPrinted>2017-08-24T15:19:55Z</cp:lastPrinted>
  <dcterms:created xsi:type="dcterms:W3CDTF">2010-02-22T15:53:39Z</dcterms:created>
  <dcterms:modified xsi:type="dcterms:W3CDTF">2025-01-17T19:41:25Z</dcterms:modified>
</cp:coreProperties>
</file>